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85805063304f4d" /><Relationship Type="http://schemas.openxmlformats.org/officeDocument/2006/relationships/extended-properties" Target="/docProps/app.xml" Id="Rc5d91b73499c439b" /><Relationship Type="http://schemas.openxmlformats.org/officeDocument/2006/relationships/officeDocument" Target="/ppt/presentation.xml" Id="R126d048269c449c3" /></Relationships>
</file>

<file path=ppt/presentation.xml><?xml version="1.0" encoding="utf-8"?>
<p:presentation xmlns:p="http://schemas.openxmlformats.org/presentationml/2006/main">
  <p:sldMasterIdLst>
    <p:sldMasterId xmlns:r="http://schemas.openxmlformats.org/officeDocument/2006/relationships" id="2147483648" r:id="R16a877187aa64578"/>
  </p:sldMasterIdLst>
  <p:notesMasterIdLst>
    <p:notesMasterId xmlns:r="http://schemas.openxmlformats.org/officeDocument/2006/relationships" r:id="R197f6e3a42454774"/>
  </p:notesMasterIdLst>
  <p:sldIdLst>
    <p:sldId xmlns:r="http://schemas.openxmlformats.org/officeDocument/2006/relationships" id="256" r:id="Rcac163842a054802"/>
    <p:sldId xmlns:r="http://schemas.openxmlformats.org/officeDocument/2006/relationships" id="257" r:id="R4a99bc9def4f4b2f"/>
    <p:sldId xmlns:r="http://schemas.openxmlformats.org/officeDocument/2006/relationships" id="258" r:id="Ra9f37977191f41c6"/>
    <p:sldId xmlns:r="http://schemas.openxmlformats.org/officeDocument/2006/relationships" id="259" r:id="Re87aa63aa01a4a5a"/>
    <p:sldId xmlns:r="http://schemas.openxmlformats.org/officeDocument/2006/relationships" id="260" r:id="Rfcb4bcff824a4a13"/>
    <p:sldId xmlns:r="http://schemas.openxmlformats.org/officeDocument/2006/relationships" id="261" r:id="Re04a0f61b6b74af6"/>
    <p:sldId xmlns:r="http://schemas.openxmlformats.org/officeDocument/2006/relationships" id="262" r:id="R031122f3890a447f"/>
    <p:sldId xmlns:r="http://schemas.openxmlformats.org/officeDocument/2006/relationships" id="263" r:id="R963ef4614536458a"/>
    <p:sldId xmlns:r="http://schemas.openxmlformats.org/officeDocument/2006/relationships" id="264" r:id="Ra3ef9be15a104568"/>
    <p:sldId xmlns:r="http://schemas.openxmlformats.org/officeDocument/2006/relationships" id="265" r:id="R41554ae74a274df9"/>
    <p:sldId xmlns:r="http://schemas.openxmlformats.org/officeDocument/2006/relationships" id="266" r:id="Rf170a19142034a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9f6b7804b24e52" /><Relationship Type="http://schemas.openxmlformats.org/officeDocument/2006/relationships/slideMaster" Target="/ppt/slideMasters/slideMaster1.xml" Id="R16a877187aa64578" /><Relationship Type="http://schemas.openxmlformats.org/officeDocument/2006/relationships/notesMaster" Target="/ppt/notesMasters/notesMaster1.xml" Id="R197f6e3a42454774" /><Relationship Type="http://schemas.openxmlformats.org/officeDocument/2006/relationships/presProps" Target="/ppt/presProps.xml" Id="R46a4726940a24d4a" /><Relationship Type="http://schemas.openxmlformats.org/officeDocument/2006/relationships/tableStyles" Target="/ppt/tableStyles.xml" Id="R7821ff8d3ad04c6b" /><Relationship Type="http://schemas.openxmlformats.org/officeDocument/2006/relationships/slide" Target="/ppt/slides/slide1.xml" Id="Rcac163842a054802" /><Relationship Type="http://schemas.openxmlformats.org/officeDocument/2006/relationships/slide" Target="/ppt/slides/slide2.xml" Id="R4a99bc9def4f4b2f" /><Relationship Type="http://schemas.openxmlformats.org/officeDocument/2006/relationships/slide" Target="/ppt/slides/slide3.xml" Id="Ra9f37977191f41c6" /><Relationship Type="http://schemas.openxmlformats.org/officeDocument/2006/relationships/slide" Target="/ppt/slides/slide4.xml" Id="Re87aa63aa01a4a5a" /><Relationship Type="http://schemas.openxmlformats.org/officeDocument/2006/relationships/slide" Target="/ppt/slides/slide5.xml" Id="Rfcb4bcff824a4a13" /><Relationship Type="http://schemas.openxmlformats.org/officeDocument/2006/relationships/slide" Target="/ppt/slides/slide6.xml" Id="Re04a0f61b6b74af6" /><Relationship Type="http://schemas.openxmlformats.org/officeDocument/2006/relationships/slide" Target="/ppt/slides/slide7.xml" Id="R031122f3890a447f" /><Relationship Type="http://schemas.openxmlformats.org/officeDocument/2006/relationships/slide" Target="/ppt/slides/slide8.xml" Id="R963ef4614536458a" /><Relationship Type="http://schemas.openxmlformats.org/officeDocument/2006/relationships/slide" Target="/ppt/slides/slide9.xml" Id="Ra3ef9be15a104568" /><Relationship Type="http://schemas.openxmlformats.org/officeDocument/2006/relationships/slide" Target="/ppt/slides/slide10.xml" Id="R41554ae74a274df9" /><Relationship Type="http://schemas.openxmlformats.org/officeDocument/2006/relationships/slide" Target="/ppt/slides/slide11.xml" Id="Rf170a19142034a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5cd9e8b51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e642964dbb4981" /><Relationship Type="http://schemas.openxmlformats.org/officeDocument/2006/relationships/notesMaster" Target="/ppt/notesMasters/notesMaster1.xml" Id="R9fc540b6c92142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68acad3dfe47ae" /><Relationship Type="http://schemas.openxmlformats.org/officeDocument/2006/relationships/notesMaster" Target="/ppt/notesMasters/notesMaster1.xml" Id="R86a5cd477dfc4a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4468bf33674284" /><Relationship Type="http://schemas.openxmlformats.org/officeDocument/2006/relationships/notesMaster" Target="/ppt/notesMasters/notesMaster1.xml" Id="Rebf5496b069842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3b022aaf9e4e24" /><Relationship Type="http://schemas.openxmlformats.org/officeDocument/2006/relationships/notesMaster" Target="/ppt/notesMasters/notesMaster1.xml" Id="Re5b07637033c45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14d884fa3f402f" /><Relationship Type="http://schemas.openxmlformats.org/officeDocument/2006/relationships/notesMaster" Target="/ppt/notesMasters/notesMaster1.xml" Id="Raa63a145bb1a42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d8988be44c4199" /><Relationship Type="http://schemas.openxmlformats.org/officeDocument/2006/relationships/notesMaster" Target="/ppt/notesMasters/notesMaster1.xml" Id="Re360aae4106c44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22a878f93b4994" /><Relationship Type="http://schemas.openxmlformats.org/officeDocument/2006/relationships/notesMaster" Target="/ppt/notesMasters/notesMaster1.xml" Id="Re2fec87dad9545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7c08322af74dad" /><Relationship Type="http://schemas.openxmlformats.org/officeDocument/2006/relationships/notesMaster" Target="/ppt/notesMasters/notesMaster1.xml" Id="Rab88d484105245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e90d02a0be4f7e" /><Relationship Type="http://schemas.openxmlformats.org/officeDocument/2006/relationships/notesMaster" Target="/ppt/notesMasters/notesMaster1.xml" Id="R565b962f0e0942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1d9068296343b4" /><Relationship Type="http://schemas.openxmlformats.org/officeDocument/2006/relationships/notesMaster" Target="/ppt/notesMasters/notesMaster1.xml" Id="Rc3f35fae8fd649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cede580f274342" /><Relationship Type="http://schemas.openxmlformats.org/officeDocument/2006/relationships/notesMaster" Target="/ppt/notesMasters/notesMaster1.xml" Id="Rba113c3d6e554b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the system turned a plain-language intent into a physical delivery. The interesting part is not just browser automation—the system kept payment supervised and recorded each authorization boundary on Solana.</a:t>
            </a:r>
          </a:p>
          <a:p xmlns:a="http://schemas.openxmlformats.org/drawingml/2006/main">
            <a:r>
              <a:t/>
            </a:r>
          </a:p>
          <a:p xmlns:a="http://schemas.openxmlformats.org/drawingml/2006/main">
            <a:r>
              <a:t>[Sources]</a:t>
            </a:r>
          </a:p>
          <a:p xmlns:a="http://schemas.openxmlformats.org/drawingml/2006/main">
            <a:r>
              <a:t>- Local demo artifacts under agent/out/</a:t>
            </a:r>
          </a:p>
          <a:p xmlns:a="http://schemas.openxmlformats.org/drawingml/2006/main">
            <a:r>
              <a:t>- User-confirmed in-person delivery, 30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Solana program is stable while the off-chain adapter changes. In this demo, the adapter was Glovo. The same contract can govern food, local print, handmade goods, or a manual fulfillment path.</a:t>
            </a:r>
          </a:p>
          <a:p xmlns:a="http://schemas.openxmlformats.org/drawingml/2006/main">
            <a:r>
              <a:t/>
            </a:r>
          </a:p>
          <a:p xmlns:a="http://schemas.openxmlformats.org/drawingml/2006/main">
            <a:r>
              <a:t>[Sources]</a:t>
            </a:r>
          </a:p>
          <a:p xmlns:a="http://schemas.openxmlformats.org/drawingml/2006/main">
            <a:r>
              <a:t>- Repository architecture and agent adapter configuration</a:t>
            </a:r>
          </a:p>
          <a:p xmlns:a="http://schemas.openxmlformats.org/drawingml/2006/main">
            <a:r>
              <a:t>- agent/out/chain-job.json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implementation split. The Anchor program is the control plane; it owns escrow and approved state. The local agent is the execution plane; it holds browser state and touches merchant systems. JSON evidence and hashes bridge the two. Sensitive data never crosses into Solana.</a:t>
            </a:r>
          </a:p>
          <a:p xmlns:a="http://schemas.openxmlformats.org/drawingml/2006/main">
            <a:r>
              <a:t/>
            </a:r>
          </a:p>
          <a:p xmlns:a="http://schemas.openxmlformats.org/drawingml/2006/main">
            <a:r>
              <a:t>[Sources]</a:t>
            </a:r>
          </a:p>
          <a:p xmlns:a="http://schemas.openxmlformats.org/drawingml/2006/main">
            <a:r>
              <a:t>- Anchor program and generated IDL in the repository</a:t>
            </a:r>
          </a:p>
          <a:p xmlns:a="http://schemas.openxmlformats.org/drawingml/2006/main">
            <a:r>
              <a:t>- agent/src adapter runner and browser modules</a:t>
            </a:r>
          </a:p>
          <a:p xmlns:a="http://schemas.openxmlformats.org/drawingml/2006/main">
            <a:r>
              <a:t>- agent/out/chain-job.json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autonomy is bounded. By default, the agent stops before payment. The human approved the exact quote. The card attempt was unique. Secrets stayed off-chain and out of the model transcript.</a:t>
            </a:r>
          </a:p>
          <a:p xmlns:a="http://schemas.openxmlformats.org/drawingml/2006/main">
            <a:r>
              <a:t/>
            </a:r>
          </a:p>
          <a:p xmlns:a="http://schemas.openxmlformats.org/drawingml/2006/main">
            <a:r>
              <a:t>[Sources]</a:t>
            </a:r>
          </a:p>
          <a:p xmlns:a="http://schemas.openxmlformats.org/drawingml/2006/main">
            <a:r>
              <a:t>- agent/out/quote.json</a:t>
            </a:r>
          </a:p>
          <a:p xmlns:a="http://schemas.openxmlformats.org/drawingml/2006/main">
            <a:r>
              <a:t>- agent/out/payment-attempt.json</a:t>
            </a:r>
          </a:p>
          <a:p xmlns:a="http://schemas.openxmlformats.org/drawingml/2006/main">
            <a:r>
              <a:t>- agent/out/three-ds-audit.json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the play button to open the edited 1:44 demo clip from the presentation-assets folder. During playback, narrate only the checkpoints: basket under cap, exact approval, card attempt, email 3DS, order confirmation, and delivery.</a:t>
            </a:r>
          </a:p>
          <a:p xmlns:a="http://schemas.openxmlformats.org/drawingml/2006/main">
            <a:r>
              <a:t/>
            </a:r>
          </a:p>
          <a:p xmlns:a="http://schemas.openxmlformats.org/drawingml/2006/main">
            <a:r>
              <a:t>[Sources]</a:t>
            </a:r>
          </a:p>
          <a:p xmlns:a="http://schemas.openxmlformats.org/drawingml/2006/main">
            <a:r>
              <a:t>- presentation-assets/Poland Agent got hands.m4v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amount shown by the merchant—not a forecast—became the approved quote. The order was three one-litre juices from Duży Ben, delivered to the configured Superteam venue.</a:t>
            </a:r>
          </a:p>
          <a:p xmlns:a="http://schemas.openxmlformats.org/drawingml/2006/main">
            <a:r>
              <a:t/>
            </a:r>
          </a:p>
          <a:p xmlns:a="http://schemas.openxmlformats.org/drawingml/2006/main">
            <a:r>
              <a:t>[Sources]</a:t>
            </a:r>
          </a:p>
          <a:p xmlns:a="http://schemas.openxmlformats.org/drawingml/2006/main">
            <a:r>
              <a:t>- agent/out/screenshots/glovo-final-checkout.jpg</a:t>
            </a:r>
          </a:p>
          <a:p xmlns:a="http://schemas.openxmlformats.org/drawingml/2006/main">
            <a:r>
              <a:t>- agent/out/quote.json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mailbox was used as a constrained authentication input. The agent classified the sender, checked the amount and merchant, and submitted exactly once. The audit file contains no OTP.</a:t>
            </a:r>
          </a:p>
          <a:p xmlns:a="http://schemas.openxmlformats.org/drawingml/2006/main">
            <a:r>
              <a:t/>
            </a:r>
          </a:p>
          <a:p xmlns:a="http://schemas.openxmlformats.org/drawingml/2006/main">
            <a:r>
              <a:t>[Sources]</a:t>
            </a:r>
          </a:p>
          <a:p xmlns:a="http://schemas.openxmlformats.org/drawingml/2006/main">
            <a:r>
              <a:t>- agent/out/three-ds-audit.json</a:t>
            </a:r>
          </a:p>
          <a:p xmlns:a="http://schemas.openxmlformats.org/drawingml/2006/main">
            <a:r>
              <a:t>- agent/out/payment-auth.json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transaction signatures are real local-Solana transactions. The audience can inspect them in Surfpool Studio. Explain that the on-chain program stores lifecycle evidence and hashes—not personal delivery information or card secrets.</a:t>
            </a:r>
          </a:p>
          <a:p xmlns:a="http://schemas.openxmlformats.org/drawingml/2006/main">
            <a:r>
              <a:t/>
            </a:r>
          </a:p>
          <a:p xmlns:a="http://schemas.openxmlformats.org/drawingml/2006/main">
            <a:r>
              <a:t>[Sources]</a:t>
            </a:r>
          </a:p>
          <a:p xmlns:a="http://schemas.openxmlformats.org/drawingml/2006/main">
            <a:r>
              <a:t>- agent/out/chain-job.json</a:t>
            </a:r>
          </a:p>
          <a:p xmlns:a="http://schemas.openxmlformats.org/drawingml/2006/main">
            <a:r>
              <a:t>- Payment auth transaction: YWwoQjVTkbiEWQKEXWEtCDpKmtc1ZrUwGk9Lj547uJm5k8Fj7TJ6Bium1K9RRcy7wWoMiuAv2SSjMXyTbqevyPE</a:t>
            </a:r>
          </a:p>
          <a:p xmlns:a="http://schemas.openxmlformats.org/drawingml/2006/main">
            <a:r>
              <a:t>- Purchase transaction: CjJT67jsbsvqUqX3Vbq5yTrBvCqeNbCrqHNfZw8UdebSYhmbfLeCKHQuQq4RrW16EKgGT3AJTnbvzMrkba7WTbX</a:t>
            </a:r>
          </a:p>
          <a:p xmlns:a="http://schemas.openxmlformats.org/drawingml/2006/main">
            <a:r>
              <a:t>
Presenter update: the same program ID is configured for devnet. At deck-build time, the official devnet RPC had not yet returned an executable account, so the visible slide intentionally makes no live-deployment claim.
[Sources]
- Anchor.toml
- programs/gift_campaign/src/lib.rs
- target/deploy/gift_campaign-keypair.json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run used two sources of delivery evidence: Glovo marked the order Delivered, and the recipient confirmed physical receipt. That matters because merchant status alone can be wrong. A future version should also hash a delivery photo when available.</a:t>
            </a:r>
          </a:p>
          <a:p xmlns:a="http://schemas.openxmlformats.org/drawingml/2006/main">
            <a:r>
              <a:t/>
            </a:r>
          </a:p>
          <a:p xmlns:a="http://schemas.openxmlformats.org/drawingml/2006/main">
            <a:r>
              <a:t>[Sources]</a:t>
            </a:r>
          </a:p>
          <a:p xmlns:a="http://schemas.openxmlformats.org/drawingml/2006/main">
            <a:r>
              <a:t>- agent/out/screenshots/glovo-delivered.jpg</a:t>
            </a:r>
          </a:p>
          <a:p xmlns:a="http://schemas.openxmlformats.org/drawingml/2006/main">
            <a:r>
              <a:t>- agent/out/delivery-evidence.json</a:t>
            </a:r>
          </a:p>
          <a:p xmlns:a="http://schemas.openxmlformats.org/drawingml/2006/main">
            <a:r>
              <a:t>
Physical proof update: this is the user-supplied photograph of the exact three delivered cartons at the venue. Original HEIC SHA-256: 755a7079604b36c0ec8e37b46fb52f2a83cb55400dd5e136bc254f3dc319d630.
[Sources]
- /Users/buena/Downloads/IMG_2922.HEIC
- agent/out/delivery-evidence.json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hide this edge case—it is the trust story. Glovo's final charged amount was 26.09 PLN, versus the 25.24 PLN approved quote and 26.00 PLN cap. The delivery succeeded, but settlement remained blocked pending human reconciliation.</a:t>
            </a:r>
          </a:p>
          <a:p xmlns:a="http://schemas.openxmlformats.org/drawingml/2006/main">
            <a:r>
              <a:t/>
            </a:r>
          </a:p>
          <a:p xmlns:a="http://schemas.openxmlformats.org/drawingml/2006/main">
            <a:r>
              <a:t>[Sources]</a:t>
            </a:r>
          </a:p>
          <a:p xmlns:a="http://schemas.openxmlformats.org/drawingml/2006/main">
            <a:r>
              <a:t>- agent/out/amount-reconciliation-exception.json</a:t>
            </a:r>
          </a:p>
          <a:p xmlns:a="http://schemas.openxmlformats.org/drawingml/2006/main">
            <a:r>
              <a:t>- Final Glovo order total recorded by the demo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protocol, not the delivery app. The value is a reusable authorization and proof layer for physical commerce. Wolt, Glovo, local print, or a human operator can all be adapters without changing the core contract.</a:t>
            </a:r>
          </a:p>
          <a:p xmlns:a="http://schemas.openxmlformats.org/drawingml/2006/main">
            <a:r>
              <a:t/>
            </a:r>
          </a:p>
          <a:p xmlns:a="http://schemas.openxmlformats.org/drawingml/2006/main">
            <a:r>
              <a:t>[Sources]</a:t>
            </a:r>
          </a:p>
          <a:p xmlns:a="http://schemas.openxmlformats.org/drawingml/2006/main">
            <a:r>
              <a:t>- Repository README talk track</a:t>
            </a:r>
          </a:p>
          <a:p xmlns:a="http://schemas.openxmlformats.org/drawingml/2006/main">
            <a:r>
              <a:t>- Local demo evidence under agent/out/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96330569644a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dc746a9f1b4164" /><Relationship Type="http://schemas.openxmlformats.org/officeDocument/2006/relationships/slideLayout" Target="/ppt/slideLayouts/slideLayout1.xml" Id="R0c28dbe7799c47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28dbe7799c47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73a533b76f44c4" /><Relationship Type="http://schemas.openxmlformats.org/officeDocument/2006/relationships/notesSlide" Target="/ppt/notesSlides/notesSlide1.xml" Id="R8f6db063ec234b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7a824b40954b38" /><Relationship Type="http://schemas.openxmlformats.org/officeDocument/2006/relationships/notesSlide" Target="/ppt/notesSlides/notesSlide2.xml" Id="R0c68bae8739f40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52be07267d423a" /><Relationship Type="http://schemas.openxmlformats.org/officeDocument/2006/relationships/notesSlide" Target="/ppt/notesSlides/notesSlide3.xml" Id="Rf156c09675f040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a2ea2764ae4ea7" /><Relationship Type="http://schemas.openxmlformats.org/officeDocument/2006/relationships/notesSlide" Target="/ppt/notesSlides/notesSlide4.xml" Id="R1620dd7c57c744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ccf56f3b854923" /><Relationship Type="http://schemas.openxmlformats.org/officeDocument/2006/relationships/image" Target="/ppt/media/image.jpeg" Id="R5483f84ea901462e" /><Relationship Type="http://schemas.openxmlformats.org/officeDocument/2006/relationships/hyperlink" Target="file:///Users/buena/Documents/ChatGPT/blockhain-rust-course-superteam-poland/presentation-assets/Poland Agent got hands.m4v" TargetMode="External" Id="Rb7859927865442c3" /><Relationship Type="http://schemas.openxmlformats.org/officeDocument/2006/relationships/hyperlink" Target="file:///Users/buena/Documents/ChatGPT/blockhain-rust-course-superteam-poland/presentation-assets/Poland Agent got hands.m4v" TargetMode="External" Id="R18c6be9277174cba" /><Relationship Type="http://schemas.openxmlformats.org/officeDocument/2006/relationships/notesSlide" Target="/ppt/notesSlides/notesSlide5.xml" Id="R71a6d1d363f241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10d0443ef449ee" /><Relationship Type="http://schemas.openxmlformats.org/officeDocument/2006/relationships/image" Target="/ppt/media/image2.jpeg" Id="Rb75b09183d1e4f96" /><Relationship Type="http://schemas.openxmlformats.org/officeDocument/2006/relationships/notesSlide" Target="/ppt/notesSlides/notesSlide6.xml" Id="R28d602004bae4d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a54dea00a449a4" /><Relationship Type="http://schemas.openxmlformats.org/officeDocument/2006/relationships/notesSlide" Target="/ppt/notesSlides/notesSlide7.xml" Id="Rc2f0066d8dfa42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01eaa658044df7" /><Relationship Type="http://schemas.openxmlformats.org/officeDocument/2006/relationships/notesSlide" Target="/ppt/notesSlides/notesSlide8.xml" Id="R50012ad04ebc4d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0a65a8cf954a0e" /><Relationship Type="http://schemas.openxmlformats.org/officeDocument/2006/relationships/image" Target="/ppt/media/image.png" Id="R13015134555c4bb4" /><Relationship Type="http://schemas.openxmlformats.org/officeDocument/2006/relationships/notesSlide" Target="/ppt/notesSlides/notesSlide9.xml" Id="R789a8cc468ab45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50bc8466f04012" /><Relationship Type="http://schemas.openxmlformats.org/officeDocument/2006/relationships/notesSlide" Target="/ppt/notesSlides/notesSlide10.xml" Id="R8cb59ba5eb884f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6ac0f03799445f" /><Relationship Type="http://schemas.openxmlformats.org/officeDocument/2006/relationships/notesSlide" Target="/ppt/notesSlides/notesSlide11.xml" Id="R89b5ce07c29046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A17707-28EA-456F-8798-2DD5E8B6B9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6EBC533A-350A-41CF-8234-086AD785D508}"/>
              </a:ext>
            </a:extLst>
          </p:cNvPr>
          <p:cNvSpPr>
            <a:spLocks xmlns:a="http://schemas.openxmlformats.org/drawingml/2006/main" noGrp="1"/>
          </p:cNvSpPr>
          <p:nvPr/>
        </p:nvSpPr>
        <p:spPr>
          <a:xfrm xmlns:a="http://schemas.openxmlformats.org/drawingml/2006/main">
            <a:off x="723900" y="6096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SUPERTEAM KRAKÓW • SOLANA PoC</a:t>
            </a:r>
          </a:p>
        </p:txBody>
      </p:sp>
      <p:sp>
        <p:nvSpPr>
          <p:cNvPr id="3" name="">
            <a:extLst xmlns:a="http://schemas.openxmlformats.org/drawingml/2006/main">
              <a:ext uri="{FF2B5EF4-FFF2-40B4-BE49-F238E27FC236}">
                <a16:creationId xmlns:a16="http://schemas.microsoft.com/office/drawing/2014/main" id="{E46CADBF-89A9-4C5D-AEA3-3909AF03CB28}"/>
              </a:ext>
            </a:extLst>
          </p:cNvPr>
          <p:cNvSpPr>
            <a:spLocks xmlns:a="http://schemas.openxmlformats.org/drawingml/2006/main" noGrp="1"/>
          </p:cNvSpPr>
          <p:nvPr/>
        </p:nvSpPr>
        <p:spPr>
          <a:xfrm xmlns:a="http://schemas.openxmlformats.org/drawingml/2006/main">
            <a:off x="723900" y="1314450"/>
            <a:ext cx="8953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An AI agent bought</a:t>
            </a:r>
          </a:p>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drinks—and Solana</a:t>
            </a:r>
          </a:p>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recorded the lifecycle</a:t>
            </a:r>
          </a:p>
        </p:txBody>
      </p:sp>
      <p:sp>
        <p:nvSpPr>
          <p:cNvPr id="4" name="">
            <a:extLst xmlns:a="http://schemas.openxmlformats.org/drawingml/2006/main">
              <a:ext uri="{FF2B5EF4-FFF2-40B4-BE49-F238E27FC236}">
                <a16:creationId xmlns:a16="http://schemas.microsoft.com/office/drawing/2014/main" id="{B83F99D4-8423-4144-A4A3-176BAF7BE802}"/>
              </a:ext>
            </a:extLst>
          </p:cNvPr>
          <p:cNvSpPr>
            <a:spLocks xmlns:a="http://schemas.openxmlformats.org/drawingml/2006/main" noGrp="1"/>
          </p:cNvSpPr>
          <p:nvPr/>
        </p:nvSpPr>
        <p:spPr>
          <a:xfrm xmlns:a="http://schemas.openxmlformats.org/drawingml/2006/main">
            <a:off x="762000" y="4591050"/>
            <a:ext cx="857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5B6168"/>
                </a:solidFill>
                <a:latin typeface="Helvetica Neue"/>
                <a:ea typeface="Helvetica Neue"/>
                <a:cs typeface="Helvetica Neue"/>
              </a:defRPr>
            </a:pPr>
            <a:r>
              <a:rPr sz="1875" b="0">
                <a:solidFill>
                  <a:srgbClr val="5B6168"/>
                </a:solidFill>
                <a:latin typeface="Helvetica Neue"/>
                <a:ea typeface="Helvetica Neue"/>
                <a:cs typeface="Helvetica Neue"/>
              </a:rPr>
              <a:t>Supervised web fulfillment: exact quote approval, email 3DS, purchase evidence, and physical delivery.</a:t>
            </a:r>
          </a:p>
        </p:txBody>
      </p:sp>
      <p:sp>
        <p:nvSpPr>
          <p:cNvPr id="5" name="">
            <a:extLst xmlns:a="http://schemas.openxmlformats.org/drawingml/2006/main">
              <a:ext uri="{FF2B5EF4-FFF2-40B4-BE49-F238E27FC236}">
                <a16:creationId xmlns:a16="http://schemas.microsoft.com/office/drawing/2014/main" id="{17EBBB76-4C9E-4000-AD4A-D4738CED0341}"/>
              </a:ext>
            </a:extLst>
          </p:cNvPr>
          <p:cNvSpPr>
            <a:spLocks xmlns:a="http://schemas.openxmlformats.org/drawingml/2006/main" noGrp="1"/>
          </p:cNvSpPr>
          <p:nvPr/>
        </p:nvSpPr>
        <p:spPr>
          <a:xfrm xmlns:a="http://schemas.openxmlformats.org/drawingml/2006/main">
            <a:off x="762000" y="5753100"/>
            <a:ext cx="1238250" cy="304800"/>
          </a:xfrm>
          <a:prstGeom xmlns:a="http://schemas.openxmlformats.org/drawingml/2006/main" prst="roundRect">
            <a:avLst>
              <a:gd name="adj" fmla="val 50000"/>
            </a:avLst>
          </a:prstGeom>
          <a:solidFill xmlns:a="http://schemas.openxmlformats.org/drawingml/2006/main">
            <a:srgbClr val="DDF6EE"/>
          </a:solidFill>
          <a:ln xmlns:a="http://schemas.openxmlformats.org/drawingml/2006/main" w="9525">
            <a:solidFill>
              <a:srgbClr val="DDF6EE"/>
            </a:solidFill>
            <a:prstDash val="solid"/>
          </a:ln>
        </p:spPr>
      </p:sp>
      <p:sp>
        <p:nvSpPr>
          <p:cNvPr id="6" name="">
            <a:extLst xmlns:a="http://schemas.openxmlformats.org/drawingml/2006/main">
              <a:ext uri="{FF2B5EF4-FFF2-40B4-BE49-F238E27FC236}">
                <a16:creationId xmlns:a16="http://schemas.microsoft.com/office/drawing/2014/main" id="{963A56AA-2DEC-4C9B-BC5F-9AA080F5991F}"/>
              </a:ext>
            </a:extLst>
          </p:cNvPr>
          <p:cNvSpPr>
            <a:spLocks xmlns:a="http://schemas.openxmlformats.org/drawingml/2006/main" noGrp="1"/>
          </p:cNvSpPr>
          <p:nvPr/>
        </p:nvSpPr>
        <p:spPr>
          <a:xfrm xmlns:a="http://schemas.openxmlformats.org/drawingml/2006/main">
            <a:off x="762000" y="58102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REAL ORDER</a:t>
            </a:r>
          </a:p>
        </p:txBody>
      </p:sp>
      <p:sp>
        <p:nvSpPr>
          <p:cNvPr id="7" name="">
            <a:extLst xmlns:a="http://schemas.openxmlformats.org/drawingml/2006/main">
              <a:ext uri="{FF2B5EF4-FFF2-40B4-BE49-F238E27FC236}">
                <a16:creationId xmlns:a16="http://schemas.microsoft.com/office/drawing/2014/main" id="{FD40DC79-CBCE-47B5-8C3C-DB63D76E61A8}"/>
              </a:ext>
            </a:extLst>
          </p:cNvPr>
          <p:cNvSpPr>
            <a:spLocks xmlns:a="http://schemas.openxmlformats.org/drawingml/2006/main" noGrp="1"/>
          </p:cNvSpPr>
          <p:nvPr/>
        </p:nvSpPr>
        <p:spPr>
          <a:xfrm xmlns:a="http://schemas.openxmlformats.org/drawingml/2006/main">
            <a:off x="2133600" y="5753100"/>
            <a:ext cx="1200150" cy="304800"/>
          </a:xfrm>
          <a:prstGeom xmlns:a="http://schemas.openxmlformats.org/drawingml/2006/main" prst="roundRect">
            <a:avLst>
              <a:gd name="adj" fmla="val 50000"/>
            </a:avLst>
          </a:prstGeom>
          <a:solidFill xmlns:a="http://schemas.openxmlformats.org/drawingml/2006/main">
            <a:srgbClr val="FFF1D4"/>
          </a:solidFill>
          <a:ln xmlns:a="http://schemas.openxmlformats.org/drawingml/2006/main" w="9525">
            <a:solidFill>
              <a:srgbClr val="FFF1D4"/>
            </a:solidFill>
            <a:prstDash val="solid"/>
          </a:ln>
        </p:spPr>
      </p:sp>
      <p:sp>
        <p:nvSpPr>
          <p:cNvPr id="8" name="">
            <a:extLst xmlns:a="http://schemas.openxmlformats.org/drawingml/2006/main">
              <a:ext uri="{FF2B5EF4-FFF2-40B4-BE49-F238E27FC236}">
                <a16:creationId xmlns:a16="http://schemas.microsoft.com/office/drawing/2014/main" id="{37A3F597-4618-4017-B557-64D37F2B0B30}"/>
              </a:ext>
            </a:extLst>
          </p:cNvPr>
          <p:cNvSpPr>
            <a:spLocks xmlns:a="http://schemas.openxmlformats.org/drawingml/2006/main" noGrp="1"/>
          </p:cNvSpPr>
          <p:nvPr/>
        </p:nvSpPr>
        <p:spPr>
          <a:xfrm xmlns:a="http://schemas.openxmlformats.org/drawingml/2006/main">
            <a:off x="2133600" y="58102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8A5900"/>
                </a:solidFill>
                <a:latin typeface="Helvetica Neue"/>
                <a:ea typeface="Helvetica Neue"/>
                <a:cs typeface="Helvetica Neue"/>
              </a:defRPr>
            </a:pPr>
            <a:r>
              <a:rPr sz="1050" b="1">
                <a:solidFill>
                  <a:srgbClr val="8A5900"/>
                </a:solidFill>
                <a:latin typeface="Helvetica Neue"/>
                <a:ea typeface="Helvetica Neue"/>
                <a:cs typeface="Helvetica Neue"/>
              </a:rPr>
              <a:t>REAL CARD</a:t>
            </a:r>
          </a:p>
        </p:txBody>
      </p:sp>
      <p:sp>
        <p:nvSpPr>
          <p:cNvPr id="9" name="">
            <a:extLst xmlns:a="http://schemas.openxmlformats.org/drawingml/2006/main">
              <a:ext uri="{FF2B5EF4-FFF2-40B4-BE49-F238E27FC236}">
                <a16:creationId xmlns:a16="http://schemas.microsoft.com/office/drawing/2014/main" id="{64A04081-0AD4-4127-ACF9-5333B6509B73}"/>
              </a:ext>
            </a:extLst>
          </p:cNvPr>
          <p:cNvSpPr>
            <a:spLocks xmlns:a="http://schemas.openxmlformats.org/drawingml/2006/main" noGrp="1"/>
          </p:cNvSpPr>
          <p:nvPr/>
        </p:nvSpPr>
        <p:spPr>
          <a:xfrm xmlns:a="http://schemas.openxmlformats.org/drawingml/2006/main">
            <a:off x="3467100" y="5753100"/>
            <a:ext cx="1466850" cy="304800"/>
          </a:xfrm>
          <a:prstGeom xmlns:a="http://schemas.openxmlformats.org/drawingml/2006/main" prst="roundRect">
            <a:avLst>
              <a:gd name="adj" fmla="val 50000"/>
            </a:avLst>
          </a:prstGeom>
          <a:solidFill xmlns:a="http://schemas.openxmlformats.org/drawingml/2006/main">
            <a:srgbClr val="E6F5FC"/>
          </a:solidFill>
          <a:ln xmlns:a="http://schemas.openxmlformats.org/drawingml/2006/main" w="9525">
            <a:solidFill>
              <a:srgbClr val="E6F5FC"/>
            </a:solidFill>
            <a:prstDash val="solid"/>
          </a:ln>
        </p:spPr>
      </p:sp>
      <p:sp>
        <p:nvSpPr>
          <p:cNvPr id="10" name="">
            <a:extLst xmlns:a="http://schemas.openxmlformats.org/drawingml/2006/main">
              <a:ext uri="{FF2B5EF4-FFF2-40B4-BE49-F238E27FC236}">
                <a16:creationId xmlns:a16="http://schemas.microsoft.com/office/drawing/2014/main" id="{592462D6-CE75-433C-8AE1-3515E075A0CE}"/>
              </a:ext>
            </a:extLst>
          </p:cNvPr>
          <p:cNvSpPr>
            <a:spLocks xmlns:a="http://schemas.openxmlformats.org/drawingml/2006/main" noGrp="1"/>
          </p:cNvSpPr>
          <p:nvPr/>
        </p:nvSpPr>
        <p:spPr>
          <a:xfrm xmlns:a="http://schemas.openxmlformats.org/drawingml/2006/main">
            <a:off x="3467100" y="58102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26A91"/>
                </a:solidFill>
                <a:latin typeface="Helvetica Neue"/>
                <a:ea typeface="Helvetica Neue"/>
                <a:cs typeface="Helvetica Neue"/>
              </a:defRPr>
            </a:pPr>
            <a:r>
              <a:rPr sz="1050" b="1">
                <a:solidFill>
                  <a:srgbClr val="126A91"/>
                </a:solidFill>
                <a:latin typeface="Helvetica Neue"/>
                <a:ea typeface="Helvetica Neue"/>
                <a:cs typeface="Helvetica Neue"/>
              </a:rPr>
              <a:t>LOCAL SOLANA</a:t>
            </a:r>
          </a:p>
        </p:txBody>
      </p:sp>
      <p:sp>
        <p:nvSpPr>
          <p:cNvPr id="11" name="">
            <a:extLst xmlns:a="http://schemas.openxmlformats.org/drawingml/2006/main">
              <a:ext uri="{FF2B5EF4-FFF2-40B4-BE49-F238E27FC236}">
                <a16:creationId xmlns:a16="http://schemas.microsoft.com/office/drawing/2014/main" id="{F1F9A900-46D9-4A9B-A7CE-D66B9F840B75}"/>
              </a:ext>
            </a:extLst>
          </p:cNvPr>
          <p:cNvSpPr>
            <a:spLocks xmlns:a="http://schemas.openxmlformats.org/drawingml/2006/main" noGrp="1"/>
          </p:cNvSpPr>
          <p:nvPr/>
        </p:nvSpPr>
        <p:spPr>
          <a:xfrm xmlns:a="http://schemas.openxmlformats.org/drawingml/2006/main">
            <a:off x="10039350" y="6172200"/>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30 AUG 2026</a:t>
            </a:r>
          </a:p>
        </p:txBody>
      </p:sp>
    </p:spTree>
    <p:extLst>
      <p:ext uri="{BB962C8B-B14F-4D97-AF65-F5344CB8AC3E}">
        <p14:creationId xmlns:p14="http://schemas.microsoft.com/office/powerpoint/2010/main" val="563936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50A02B8-9BEE-4B86-BD73-97754C5B8DF2}"/>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ONE PROTOCOL, MANY ADAPTERS</a:t>
            </a:r>
          </a:p>
        </p:txBody>
      </p:sp>
      <p:sp>
        <p:nvSpPr>
          <p:cNvPr id="2" name="">
            <a:extLst xmlns:a="http://schemas.openxmlformats.org/drawingml/2006/main">
              <a:ext uri="{FF2B5EF4-FFF2-40B4-BE49-F238E27FC236}">
                <a16:creationId xmlns:a16="http://schemas.microsoft.com/office/drawing/2014/main" id="{858EC5E1-78CA-44B3-8F15-A24C05CA30F4}"/>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contract does not care what gets delivered</a:t>
            </a:r>
          </a:p>
        </p:txBody>
      </p:sp>
      <p:sp>
        <p:nvSpPr>
          <p:cNvPr id="3" name="">
            <a:extLst xmlns:a="http://schemas.openxmlformats.org/drawingml/2006/main">
              <a:ext uri="{FF2B5EF4-FFF2-40B4-BE49-F238E27FC236}">
                <a16:creationId xmlns:a16="http://schemas.microsoft.com/office/drawing/2014/main" id="{3874D07B-37B5-4986-AC71-ED7925AF1257}"/>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9937AB4-DA7D-4CE8-950F-05467074AC20}"/>
              </a:ext>
            </a:extLst>
          </p:cNvPr>
          <p:cNvSpPr>
            <a:spLocks xmlns:a="http://schemas.openxmlformats.org/drawingml/2006/main" noGrp="1"/>
          </p:cNvSpPr>
          <p:nvPr/>
        </p:nvSpPr>
        <p:spPr>
          <a:xfrm xmlns:a="http://schemas.openxmlformats.org/drawingml/2006/main">
            <a:off x="285750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5" name="">
            <a:extLst xmlns:a="http://schemas.openxmlformats.org/drawingml/2006/main">
              <a:ext uri="{FF2B5EF4-FFF2-40B4-BE49-F238E27FC236}">
                <a16:creationId xmlns:a16="http://schemas.microsoft.com/office/drawing/2014/main" id="{8328D96B-E1EA-43A7-A433-8D0EC59961D1}"/>
              </a:ext>
            </a:extLst>
          </p:cNvPr>
          <p:cNvSpPr>
            <a:spLocks xmlns:a="http://schemas.openxmlformats.org/drawingml/2006/main" noGrp="1"/>
          </p:cNvSpPr>
          <p:nvPr/>
        </p:nvSpPr>
        <p:spPr>
          <a:xfrm xmlns:a="http://schemas.openxmlformats.org/drawingml/2006/main">
            <a:off x="304800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E1CEBC0B-71E9-4372-A749-4C0F3DB6E5E6}"/>
              </a:ext>
            </a:extLst>
          </p:cNvPr>
          <p:cNvSpPr>
            <a:spLocks xmlns:a="http://schemas.openxmlformats.org/drawingml/2006/main" noGrp="1"/>
          </p:cNvSpPr>
          <p:nvPr/>
        </p:nvSpPr>
        <p:spPr>
          <a:xfrm xmlns:a="http://schemas.openxmlformats.org/drawingml/2006/main">
            <a:off x="561975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7" name="">
            <a:extLst xmlns:a="http://schemas.openxmlformats.org/drawingml/2006/main">
              <a:ext uri="{FF2B5EF4-FFF2-40B4-BE49-F238E27FC236}">
                <a16:creationId xmlns:a16="http://schemas.microsoft.com/office/drawing/2014/main" id="{F79E9E0F-B510-4202-9C06-398B0D0CEFDE}"/>
              </a:ext>
            </a:extLst>
          </p:cNvPr>
          <p:cNvSpPr>
            <a:spLocks xmlns:a="http://schemas.openxmlformats.org/drawingml/2006/main" noGrp="1"/>
          </p:cNvSpPr>
          <p:nvPr/>
        </p:nvSpPr>
        <p:spPr>
          <a:xfrm xmlns:a="http://schemas.openxmlformats.org/drawingml/2006/main">
            <a:off x="581025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4A8D03A-58CD-48A5-A285-3229443562C0}"/>
              </a:ext>
            </a:extLst>
          </p:cNvPr>
          <p:cNvSpPr>
            <a:spLocks xmlns:a="http://schemas.openxmlformats.org/drawingml/2006/main" noGrp="1"/>
          </p:cNvSpPr>
          <p:nvPr/>
        </p:nvSpPr>
        <p:spPr>
          <a:xfrm xmlns:a="http://schemas.openxmlformats.org/drawingml/2006/main">
            <a:off x="838200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9" name="">
            <a:extLst xmlns:a="http://schemas.openxmlformats.org/drawingml/2006/main">
              <a:ext uri="{FF2B5EF4-FFF2-40B4-BE49-F238E27FC236}">
                <a16:creationId xmlns:a16="http://schemas.microsoft.com/office/drawing/2014/main" id="{1096E294-EA7C-4684-B0B1-160DF79B4357}"/>
              </a:ext>
            </a:extLst>
          </p:cNvPr>
          <p:cNvSpPr>
            <a:spLocks xmlns:a="http://schemas.openxmlformats.org/drawingml/2006/main" noGrp="1"/>
          </p:cNvSpPr>
          <p:nvPr/>
        </p:nvSpPr>
        <p:spPr>
          <a:xfrm xmlns:a="http://schemas.openxmlformats.org/drawingml/2006/main">
            <a:off x="857250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AB87E15A-7E84-4CC1-B266-C04128221E6E}"/>
              </a:ext>
            </a:extLst>
          </p:cNvPr>
          <p:cNvSpPr>
            <a:spLocks xmlns:a="http://schemas.openxmlformats.org/drawingml/2006/main" noGrp="1"/>
          </p:cNvSpPr>
          <p:nvPr/>
        </p:nvSpPr>
        <p:spPr>
          <a:xfrm xmlns:a="http://schemas.openxmlformats.org/drawingml/2006/main">
            <a:off x="68580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11" name="">
            <a:extLst xmlns:a="http://schemas.openxmlformats.org/drawingml/2006/main">
              <a:ext uri="{FF2B5EF4-FFF2-40B4-BE49-F238E27FC236}">
                <a16:creationId xmlns:a16="http://schemas.microsoft.com/office/drawing/2014/main" id="{39095183-5947-4EA3-B4FF-BC2169C00984}"/>
              </a:ext>
            </a:extLst>
          </p:cNvPr>
          <p:cNvSpPr>
            <a:spLocks xmlns:a="http://schemas.openxmlformats.org/drawingml/2006/main" noGrp="1"/>
          </p:cNvSpPr>
          <p:nvPr/>
        </p:nvSpPr>
        <p:spPr>
          <a:xfrm xmlns:a="http://schemas.openxmlformats.org/drawingml/2006/main">
            <a:off x="89535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C3F0595E-D6B4-471E-8F59-B13472C783D6}"/>
              </a:ext>
            </a:extLst>
          </p:cNvPr>
          <p:cNvSpPr>
            <a:spLocks xmlns:a="http://schemas.openxmlformats.org/drawingml/2006/main" noGrp="1"/>
          </p:cNvSpPr>
          <p:nvPr/>
        </p:nvSpPr>
        <p:spPr>
          <a:xfrm xmlns:a="http://schemas.openxmlformats.org/drawingml/2006/main">
            <a:off x="89535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INTENT</a:t>
            </a:r>
          </a:p>
        </p:txBody>
      </p:sp>
      <p:sp>
        <p:nvSpPr>
          <p:cNvPr id="13" name="">
            <a:extLst xmlns:a="http://schemas.openxmlformats.org/drawingml/2006/main">
              <a:ext uri="{FF2B5EF4-FFF2-40B4-BE49-F238E27FC236}">
                <a16:creationId xmlns:a16="http://schemas.microsoft.com/office/drawing/2014/main" id="{25E8D86D-5FD7-4D96-9164-402F8E035FE1}"/>
              </a:ext>
            </a:extLst>
          </p:cNvPr>
          <p:cNvSpPr>
            <a:spLocks xmlns:a="http://schemas.openxmlformats.org/drawingml/2006/main" noGrp="1"/>
          </p:cNvSpPr>
          <p:nvPr/>
        </p:nvSpPr>
        <p:spPr>
          <a:xfrm xmlns:a="http://schemas.openxmlformats.org/drawingml/2006/main">
            <a:off x="89535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“Bring drinks to</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the demo venue.”</a:t>
            </a:r>
          </a:p>
        </p:txBody>
      </p:sp>
      <p:sp>
        <p:nvSpPr>
          <p:cNvPr id="14" name="">
            <a:extLst xmlns:a="http://schemas.openxmlformats.org/drawingml/2006/main">
              <a:ext uri="{FF2B5EF4-FFF2-40B4-BE49-F238E27FC236}">
                <a16:creationId xmlns:a16="http://schemas.microsoft.com/office/drawing/2014/main" id="{0D58A795-666E-48D1-8330-D5FAE45B7E20}"/>
              </a:ext>
            </a:extLst>
          </p:cNvPr>
          <p:cNvSpPr>
            <a:spLocks xmlns:a="http://schemas.openxmlformats.org/drawingml/2006/main" noGrp="1"/>
          </p:cNvSpPr>
          <p:nvPr/>
        </p:nvSpPr>
        <p:spPr>
          <a:xfrm xmlns:a="http://schemas.openxmlformats.org/drawingml/2006/main">
            <a:off x="3448050" y="2209800"/>
            <a:ext cx="2190750" cy="2533650"/>
          </a:xfrm>
          <a:prstGeom xmlns:a="http://schemas.openxmlformats.org/drawingml/2006/main" prst="roundRect">
            <a:avLst>
              <a:gd name="adj" fmla="val 9565"/>
            </a:avLst>
          </a:prstGeom>
          <a:solidFill xmlns:a="http://schemas.openxmlformats.org/drawingml/2006/main">
            <a:srgbClr val="EAF6FC"/>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248161D9-9663-44A7-842F-11ABFA5BF678}"/>
              </a:ext>
            </a:extLst>
          </p:cNvPr>
          <p:cNvSpPr>
            <a:spLocks xmlns:a="http://schemas.openxmlformats.org/drawingml/2006/main" noGrp="1"/>
          </p:cNvSpPr>
          <p:nvPr/>
        </p:nvSpPr>
        <p:spPr>
          <a:xfrm xmlns:a="http://schemas.openxmlformats.org/drawingml/2006/main">
            <a:off x="365760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2</a:t>
            </a:r>
          </a:p>
        </p:txBody>
      </p:sp>
      <p:sp>
        <p:nvSpPr>
          <p:cNvPr id="16" name="">
            <a:extLst xmlns:a="http://schemas.openxmlformats.org/drawingml/2006/main">
              <a:ext uri="{FF2B5EF4-FFF2-40B4-BE49-F238E27FC236}">
                <a16:creationId xmlns:a16="http://schemas.microsoft.com/office/drawing/2014/main" id="{3BF752CE-BA69-46C8-8CBF-D4AE17844646}"/>
              </a:ext>
            </a:extLst>
          </p:cNvPr>
          <p:cNvSpPr>
            <a:spLocks xmlns:a="http://schemas.openxmlformats.org/drawingml/2006/main" noGrp="1"/>
          </p:cNvSpPr>
          <p:nvPr/>
        </p:nvSpPr>
        <p:spPr>
          <a:xfrm xmlns:a="http://schemas.openxmlformats.org/drawingml/2006/main">
            <a:off x="365760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ON-CHAIN GATE</a:t>
            </a:r>
          </a:p>
        </p:txBody>
      </p:sp>
      <p:sp>
        <p:nvSpPr>
          <p:cNvPr id="17" name="">
            <a:extLst xmlns:a="http://schemas.openxmlformats.org/drawingml/2006/main">
              <a:ext uri="{FF2B5EF4-FFF2-40B4-BE49-F238E27FC236}">
                <a16:creationId xmlns:a16="http://schemas.microsoft.com/office/drawing/2014/main" id="{659EC38A-C502-4145-9F77-7FEF7ECF77D0}"/>
              </a:ext>
            </a:extLst>
          </p:cNvPr>
          <p:cNvSpPr>
            <a:spLocks xmlns:a="http://schemas.openxmlformats.org/drawingml/2006/main" noGrp="1"/>
          </p:cNvSpPr>
          <p:nvPr/>
        </p:nvSpPr>
        <p:spPr>
          <a:xfrm xmlns:a="http://schemas.openxmlformats.org/drawingml/2006/main">
            <a:off x="365760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16"/>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Lock funds. Approve</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spec + exact quote.</a:t>
            </a:r>
          </a:p>
        </p:txBody>
      </p:sp>
      <p:sp>
        <p:nvSpPr>
          <p:cNvPr id="18" name="">
            <a:extLst xmlns:a="http://schemas.openxmlformats.org/drawingml/2006/main">
              <a:ext uri="{FF2B5EF4-FFF2-40B4-BE49-F238E27FC236}">
                <a16:creationId xmlns:a16="http://schemas.microsoft.com/office/drawing/2014/main" id="{AEA29F0E-842F-4B2B-9191-350AFEC25732}"/>
              </a:ext>
            </a:extLst>
          </p:cNvPr>
          <p:cNvSpPr>
            <a:spLocks xmlns:a="http://schemas.openxmlformats.org/drawingml/2006/main" noGrp="1"/>
          </p:cNvSpPr>
          <p:nvPr/>
        </p:nvSpPr>
        <p:spPr>
          <a:xfrm xmlns:a="http://schemas.openxmlformats.org/drawingml/2006/main">
            <a:off x="621030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19" name="">
            <a:extLst xmlns:a="http://schemas.openxmlformats.org/drawingml/2006/main">
              <a:ext uri="{FF2B5EF4-FFF2-40B4-BE49-F238E27FC236}">
                <a16:creationId xmlns:a16="http://schemas.microsoft.com/office/drawing/2014/main" id="{0A1EE54F-ACA3-486D-ADF0-F49EE5A6B3EE}"/>
              </a:ext>
            </a:extLst>
          </p:cNvPr>
          <p:cNvSpPr>
            <a:spLocks xmlns:a="http://schemas.openxmlformats.org/drawingml/2006/main" noGrp="1"/>
          </p:cNvSpPr>
          <p:nvPr/>
        </p:nvSpPr>
        <p:spPr>
          <a:xfrm xmlns:a="http://schemas.openxmlformats.org/drawingml/2006/main">
            <a:off x="641985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C02B087C-F794-4FC3-A979-2F6C9F34EFE5}"/>
              </a:ext>
            </a:extLst>
          </p:cNvPr>
          <p:cNvSpPr>
            <a:spLocks xmlns:a="http://schemas.openxmlformats.org/drawingml/2006/main" noGrp="1"/>
          </p:cNvSpPr>
          <p:nvPr/>
        </p:nvSpPr>
        <p:spPr>
          <a:xfrm xmlns:a="http://schemas.openxmlformats.org/drawingml/2006/main">
            <a:off x="641985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WEB ADAPTER</a:t>
            </a:r>
          </a:p>
        </p:txBody>
      </p:sp>
      <p:sp>
        <p:nvSpPr>
          <p:cNvPr id="21" name="">
            <a:extLst xmlns:a="http://schemas.openxmlformats.org/drawingml/2006/main">
              <a:ext uri="{FF2B5EF4-FFF2-40B4-BE49-F238E27FC236}">
                <a16:creationId xmlns:a16="http://schemas.microsoft.com/office/drawing/2014/main" id="{E64C993D-E980-4B14-B424-40CF11415FF4}"/>
              </a:ext>
            </a:extLst>
          </p:cNvPr>
          <p:cNvSpPr>
            <a:spLocks xmlns:a="http://schemas.openxmlformats.org/drawingml/2006/main" noGrp="1"/>
          </p:cNvSpPr>
          <p:nvPr/>
        </p:nvSpPr>
        <p:spPr>
          <a:xfrm xmlns:a="http://schemas.openxmlformats.org/drawingml/2006/main">
            <a:off x="641985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93"/>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Search, checkout,</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card, email 3DS.</a:t>
            </a:r>
          </a:p>
        </p:txBody>
      </p:sp>
      <p:sp>
        <p:nvSpPr>
          <p:cNvPr id="22" name="">
            <a:extLst xmlns:a="http://schemas.openxmlformats.org/drawingml/2006/main">
              <a:ext uri="{FF2B5EF4-FFF2-40B4-BE49-F238E27FC236}">
                <a16:creationId xmlns:a16="http://schemas.microsoft.com/office/drawing/2014/main" id="{29B325FA-436D-4EB3-A156-9B68B4032346}"/>
              </a:ext>
            </a:extLst>
          </p:cNvPr>
          <p:cNvSpPr>
            <a:spLocks xmlns:a="http://schemas.openxmlformats.org/drawingml/2006/main" noGrp="1"/>
          </p:cNvSpPr>
          <p:nvPr/>
        </p:nvSpPr>
        <p:spPr>
          <a:xfrm xmlns:a="http://schemas.openxmlformats.org/drawingml/2006/main">
            <a:off x="897255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23" name="">
            <a:extLst xmlns:a="http://schemas.openxmlformats.org/drawingml/2006/main">
              <a:ext uri="{FF2B5EF4-FFF2-40B4-BE49-F238E27FC236}">
                <a16:creationId xmlns:a16="http://schemas.microsoft.com/office/drawing/2014/main" id="{530A749A-8274-4173-8A87-9BC9E81B3ADF}"/>
              </a:ext>
            </a:extLst>
          </p:cNvPr>
          <p:cNvSpPr>
            <a:spLocks xmlns:a="http://schemas.openxmlformats.org/drawingml/2006/main" noGrp="1"/>
          </p:cNvSpPr>
          <p:nvPr/>
        </p:nvSpPr>
        <p:spPr>
          <a:xfrm xmlns:a="http://schemas.openxmlformats.org/drawingml/2006/main">
            <a:off x="918210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977277B9-79F8-4FBC-AECD-7EB11E08E18A}"/>
              </a:ext>
            </a:extLst>
          </p:cNvPr>
          <p:cNvSpPr>
            <a:spLocks xmlns:a="http://schemas.openxmlformats.org/drawingml/2006/main" noGrp="1"/>
          </p:cNvSpPr>
          <p:nvPr/>
        </p:nvSpPr>
        <p:spPr>
          <a:xfrm xmlns:a="http://schemas.openxmlformats.org/drawingml/2006/main">
            <a:off x="918210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PHYSICAL PROOF</a:t>
            </a:r>
          </a:p>
        </p:txBody>
      </p:sp>
      <p:sp>
        <p:nvSpPr>
          <p:cNvPr id="25" name="">
            <a:extLst xmlns:a="http://schemas.openxmlformats.org/drawingml/2006/main">
              <a:ext uri="{FF2B5EF4-FFF2-40B4-BE49-F238E27FC236}">
                <a16:creationId xmlns:a16="http://schemas.microsoft.com/office/drawing/2014/main" id="{653D1449-2553-4FF1-9CE7-64D2AA09B2ED}"/>
              </a:ext>
            </a:extLst>
          </p:cNvPr>
          <p:cNvSpPr>
            <a:spLocks xmlns:a="http://schemas.openxmlformats.org/drawingml/2006/main" noGrp="1"/>
          </p:cNvSpPr>
          <p:nvPr/>
        </p:nvSpPr>
        <p:spPr>
          <a:xfrm xmlns:a="http://schemas.openxmlformats.org/drawingml/2006/main">
            <a:off x="918210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Order status +</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human receipt.</a:t>
            </a:r>
          </a:p>
        </p:txBody>
      </p:sp>
      <p:sp>
        <p:nvSpPr>
          <p:cNvPr id="26" name="">
            <a:extLst xmlns:a="http://schemas.openxmlformats.org/drawingml/2006/main">
              <a:ext uri="{FF2B5EF4-FFF2-40B4-BE49-F238E27FC236}">
                <a16:creationId xmlns:a16="http://schemas.microsoft.com/office/drawing/2014/main" id="{35347799-1FE4-4306-AA99-645E72A2B64B}"/>
              </a:ext>
            </a:extLst>
          </p:cNvPr>
          <p:cNvSpPr>
            <a:spLocks xmlns:a="http://schemas.openxmlformats.org/drawingml/2006/main" noGrp="1"/>
          </p:cNvSpPr>
          <p:nvPr/>
        </p:nvSpPr>
        <p:spPr>
          <a:xfrm xmlns:a="http://schemas.openxmlformats.org/drawingml/2006/main">
            <a:off x="1543050" y="5238750"/>
            <a:ext cx="910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a:solidFill>
                  <a:srgbClr val="5B6168"/>
                </a:solidFill>
                <a:latin typeface="Helvetica Neue"/>
                <a:ea typeface="Helvetica Neue"/>
                <a:cs typeface="Helvetica Neue"/>
              </a:defRPr>
            </a:pPr>
            <a:r>
              <a:rPr sz="1800" b="0">
                <a:solidFill>
                  <a:srgbClr val="5B6168"/>
                </a:solidFill>
                <a:latin typeface="Helvetica Neue"/>
                <a:ea typeface="Helvetica Neue"/>
                <a:cs typeface="Helvetica Neue"/>
              </a:rPr>
              <a:t>Food today. Local merch tomorrow. The program only sees approved hashes, amounts, and lifecycle events.</a:t>
            </a:r>
          </a:p>
        </p:txBody>
      </p:sp>
      <p:sp>
        <p:nvSpPr>
          <p:cNvPr id="27" name="">
            <a:extLst xmlns:a="http://schemas.openxmlformats.org/drawingml/2006/main">
              <a:ext uri="{FF2B5EF4-FFF2-40B4-BE49-F238E27FC236}">
                <a16:creationId xmlns:a16="http://schemas.microsoft.com/office/drawing/2014/main" id="{D8E9368F-0771-454D-B1D6-C0C0DA29C0CC}"/>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28" name="">
            <a:extLst xmlns:a="http://schemas.openxmlformats.org/drawingml/2006/main">
              <a:ext uri="{FF2B5EF4-FFF2-40B4-BE49-F238E27FC236}">
                <a16:creationId xmlns:a16="http://schemas.microsoft.com/office/drawing/2014/main" id="{A9C58399-81E4-4F6C-933C-39A7ACFC3379}"/>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4106794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09A67DD-D1F6-450F-9D9F-557FA73BC82F}"/>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BUILDER ARCHITECTURE</a:t>
            </a:r>
          </a:p>
        </p:txBody>
      </p:sp>
      <p:sp>
        <p:nvSpPr>
          <p:cNvPr id="2" name="">
            <a:extLst xmlns:a="http://schemas.openxmlformats.org/drawingml/2006/main">
              <a:ext uri="{FF2B5EF4-FFF2-40B4-BE49-F238E27FC236}">
                <a16:creationId xmlns:a16="http://schemas.microsoft.com/office/drawing/2014/main" id="{E57AD884-C2D4-4AD9-8DC8-CE4BBCABC727}"/>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Three planes, one verifiable fulfillment lifecycle</a:t>
            </a:r>
          </a:p>
        </p:txBody>
      </p:sp>
      <p:sp>
        <p:nvSpPr>
          <p:cNvPr id="3" name="">
            <a:extLst xmlns:a="http://schemas.openxmlformats.org/drawingml/2006/main">
              <a:ext uri="{FF2B5EF4-FFF2-40B4-BE49-F238E27FC236}">
                <a16:creationId xmlns:a16="http://schemas.microsoft.com/office/drawing/2014/main" id="{667085CC-431F-45BF-993C-5FB58CB68675}"/>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9A627B7-A144-4A3F-A887-033FF5ACC90A}"/>
              </a:ext>
            </a:extLst>
          </p:cNvPr>
          <p:cNvSpPr>
            <a:spLocks xmlns:a="http://schemas.openxmlformats.org/drawingml/2006/main" noGrp="1"/>
          </p:cNvSpPr>
          <p:nvPr/>
        </p:nvSpPr>
        <p:spPr>
          <a:xfrm xmlns:a="http://schemas.openxmlformats.org/drawingml/2006/main">
            <a:off x="3733800" y="3562350"/>
            <a:ext cx="4953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5" name="">
            <a:extLst xmlns:a="http://schemas.openxmlformats.org/drawingml/2006/main">
              <a:ext uri="{FF2B5EF4-FFF2-40B4-BE49-F238E27FC236}">
                <a16:creationId xmlns:a16="http://schemas.microsoft.com/office/drawing/2014/main" id="{7723107B-22BA-4C0F-8D0C-008F169F4713}"/>
              </a:ext>
            </a:extLst>
          </p:cNvPr>
          <p:cNvSpPr>
            <a:spLocks xmlns:a="http://schemas.openxmlformats.org/drawingml/2006/main" noGrp="1"/>
          </p:cNvSpPr>
          <p:nvPr/>
        </p:nvSpPr>
        <p:spPr>
          <a:xfrm xmlns:a="http://schemas.openxmlformats.org/drawingml/2006/main">
            <a:off x="3800475" y="3295650"/>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DF27E472-5B43-42B4-8E1B-DA0C66328F1A}"/>
              </a:ext>
            </a:extLst>
          </p:cNvPr>
          <p:cNvSpPr>
            <a:spLocks xmlns:a="http://schemas.openxmlformats.org/drawingml/2006/main" noGrp="1"/>
          </p:cNvSpPr>
          <p:nvPr/>
        </p:nvSpPr>
        <p:spPr>
          <a:xfrm xmlns:a="http://schemas.openxmlformats.org/drawingml/2006/main">
            <a:off x="7962900" y="3562350"/>
            <a:ext cx="4953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7" name="">
            <a:extLst xmlns:a="http://schemas.openxmlformats.org/drawingml/2006/main">
              <a:ext uri="{FF2B5EF4-FFF2-40B4-BE49-F238E27FC236}">
                <a16:creationId xmlns:a16="http://schemas.microsoft.com/office/drawing/2014/main" id="{F3EA1372-03B7-414E-A158-BD605AF07DD3}"/>
              </a:ext>
            </a:extLst>
          </p:cNvPr>
          <p:cNvSpPr>
            <a:spLocks xmlns:a="http://schemas.openxmlformats.org/drawingml/2006/main" noGrp="1"/>
          </p:cNvSpPr>
          <p:nvPr/>
        </p:nvSpPr>
        <p:spPr>
          <a:xfrm xmlns:a="http://schemas.openxmlformats.org/drawingml/2006/main">
            <a:off x="8029575" y="3295650"/>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684A0E5-190D-4B1B-82C4-8D9C9903A9BC}"/>
              </a:ext>
            </a:extLst>
          </p:cNvPr>
          <p:cNvSpPr>
            <a:spLocks xmlns:a="http://schemas.openxmlformats.org/drawingml/2006/main" noGrp="1"/>
          </p:cNvSpPr>
          <p:nvPr/>
        </p:nvSpPr>
        <p:spPr>
          <a:xfrm xmlns:a="http://schemas.openxmlformats.org/drawingml/2006/main">
            <a:off x="685800" y="1866900"/>
            <a:ext cx="3048000" cy="3543300"/>
          </a:xfrm>
          <a:prstGeom xmlns:a="http://schemas.openxmlformats.org/drawingml/2006/main" prst="roundRect">
            <a:avLst>
              <a:gd name="adj" fmla="val 6875"/>
            </a:avLst>
          </a:prstGeom>
          <a:solidFill xmlns:a="http://schemas.openxmlformats.org/drawingml/2006/main">
            <a:srgbClr val="EAF6FC"/>
          </a:solidFill>
          <a:ln xmlns:a="http://schemas.openxmlformats.org/drawingml/2006/main" w="9525">
            <a:solidFill>
              <a:srgbClr val="3D8DFF"/>
            </a:solidFill>
            <a:prstDash val="solid"/>
          </a:ln>
        </p:spPr>
      </p:sp>
      <p:sp>
        <p:nvSpPr>
          <p:cNvPr id="9" name="">
            <a:extLst xmlns:a="http://schemas.openxmlformats.org/drawingml/2006/main">
              <a:ext uri="{FF2B5EF4-FFF2-40B4-BE49-F238E27FC236}">
                <a16:creationId xmlns:a16="http://schemas.microsoft.com/office/drawing/2014/main" id="{62023F2B-2E88-4AFE-A487-CA2225EB8698}"/>
              </a:ext>
            </a:extLst>
          </p:cNvPr>
          <p:cNvSpPr>
            <a:spLocks xmlns:a="http://schemas.openxmlformats.org/drawingml/2006/main" noGrp="1"/>
          </p:cNvSpPr>
          <p:nvPr/>
        </p:nvSpPr>
        <p:spPr>
          <a:xfrm xmlns:a="http://schemas.openxmlformats.org/drawingml/2006/main">
            <a:off x="914400" y="2133600"/>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CONTROL PLANE</a:t>
            </a:r>
          </a:p>
        </p:txBody>
      </p:sp>
      <p:sp>
        <p:nvSpPr>
          <p:cNvPr id="10" name="">
            <a:extLst xmlns:a="http://schemas.openxmlformats.org/drawingml/2006/main">
              <a:ext uri="{FF2B5EF4-FFF2-40B4-BE49-F238E27FC236}">
                <a16:creationId xmlns:a16="http://schemas.microsoft.com/office/drawing/2014/main" id="{1F277031-D75A-4475-A5FA-B38A70D51A7D}"/>
              </a:ext>
            </a:extLst>
          </p:cNvPr>
          <p:cNvSpPr>
            <a:spLocks xmlns:a="http://schemas.openxmlformats.org/drawingml/2006/main" noGrp="1"/>
          </p:cNvSpPr>
          <p:nvPr/>
        </p:nvSpPr>
        <p:spPr>
          <a:xfrm xmlns:a="http://schemas.openxmlformats.org/drawingml/2006/main">
            <a:off x="914400" y="25336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Solana + Anchor</a:t>
            </a:r>
          </a:p>
        </p:txBody>
      </p:sp>
      <p:sp>
        <p:nvSpPr>
          <p:cNvPr id="11" name="">
            <a:extLst xmlns:a="http://schemas.openxmlformats.org/drawingml/2006/main">
              <a:ext uri="{FF2B5EF4-FFF2-40B4-BE49-F238E27FC236}">
                <a16:creationId xmlns:a16="http://schemas.microsoft.com/office/drawing/2014/main" id="{59D2978A-5227-4C26-B1B9-867F68C08A5C}"/>
              </a:ext>
            </a:extLst>
          </p:cNvPr>
          <p:cNvSpPr>
            <a:spLocks xmlns:a="http://schemas.openxmlformats.org/drawingml/2006/main" noGrp="1"/>
          </p:cNvSpPr>
          <p:nvPr/>
        </p:nvSpPr>
        <p:spPr>
          <a:xfrm xmlns:a="http://schemas.openxmlformats.org/drawingml/2006/main">
            <a:off x="9144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542C5136-F638-4061-922D-A78A9B1E9D0B}"/>
              </a:ext>
            </a:extLst>
          </p:cNvPr>
          <p:cNvSpPr>
            <a:spLocks xmlns:a="http://schemas.openxmlformats.org/drawingml/2006/main" noGrp="1"/>
          </p:cNvSpPr>
          <p:nvPr/>
        </p:nvSpPr>
        <p:spPr>
          <a:xfrm xmlns:a="http://schemas.openxmlformats.org/drawingml/2006/main">
            <a:off x="1200150" y="3238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Campaign + vault PDAs</a:t>
            </a:r>
          </a:p>
        </p:txBody>
      </p:sp>
      <p:sp>
        <p:nvSpPr>
          <p:cNvPr id="13" name="">
            <a:extLst xmlns:a="http://schemas.openxmlformats.org/drawingml/2006/main">
              <a:ext uri="{FF2B5EF4-FFF2-40B4-BE49-F238E27FC236}">
                <a16:creationId xmlns:a16="http://schemas.microsoft.com/office/drawing/2014/main" id="{BF3BD839-94A5-4F2F-93B8-3416950F9111}"/>
              </a:ext>
            </a:extLst>
          </p:cNvPr>
          <p:cNvSpPr>
            <a:spLocks xmlns:a="http://schemas.openxmlformats.org/drawingml/2006/main" noGrp="1"/>
          </p:cNvSpPr>
          <p:nvPr/>
        </p:nvSpPr>
        <p:spPr>
          <a:xfrm xmlns:a="http://schemas.openxmlformats.org/drawingml/2006/main">
            <a:off x="9144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AC530263-F83E-4B24-A382-0C9C789F2690}"/>
              </a:ext>
            </a:extLst>
          </p:cNvPr>
          <p:cNvSpPr>
            <a:spLocks xmlns:a="http://schemas.openxmlformats.org/drawingml/2006/main" noGrp="1"/>
          </p:cNvSpPr>
          <p:nvPr/>
        </p:nvSpPr>
        <p:spPr>
          <a:xfrm xmlns:a="http://schemas.openxmlformats.org/drawingml/2006/main">
            <a:off x="1200150" y="3695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SPL-token escrow</a:t>
            </a:r>
          </a:p>
        </p:txBody>
      </p:sp>
      <p:sp>
        <p:nvSpPr>
          <p:cNvPr id="15" name="">
            <a:extLst xmlns:a="http://schemas.openxmlformats.org/drawingml/2006/main">
              <a:ext uri="{FF2B5EF4-FFF2-40B4-BE49-F238E27FC236}">
                <a16:creationId xmlns:a16="http://schemas.microsoft.com/office/drawing/2014/main" id="{84474F94-CEA2-413A-928F-78F8C45E07D0}"/>
              </a:ext>
            </a:extLst>
          </p:cNvPr>
          <p:cNvSpPr>
            <a:spLocks xmlns:a="http://schemas.openxmlformats.org/drawingml/2006/main" noGrp="1"/>
          </p:cNvSpPr>
          <p:nvPr/>
        </p:nvSpPr>
        <p:spPr>
          <a:xfrm xmlns:a="http://schemas.openxmlformats.org/drawingml/2006/main">
            <a:off x="9144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A6AE88E4-E57D-4384-ADC1-C466E222A602}"/>
              </a:ext>
            </a:extLst>
          </p:cNvPr>
          <p:cNvSpPr>
            <a:spLocks xmlns:a="http://schemas.openxmlformats.org/drawingml/2006/main" noGrp="1"/>
          </p:cNvSpPr>
          <p:nvPr/>
        </p:nvSpPr>
        <p:spPr>
          <a:xfrm xmlns:a="http://schemas.openxmlformats.org/drawingml/2006/main">
            <a:off x="1200150" y="4152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Quote/spec hashes</a:t>
            </a:r>
          </a:p>
        </p:txBody>
      </p:sp>
      <p:sp>
        <p:nvSpPr>
          <p:cNvPr id="17" name="">
            <a:extLst xmlns:a="http://schemas.openxmlformats.org/drawingml/2006/main">
              <a:ext uri="{FF2B5EF4-FFF2-40B4-BE49-F238E27FC236}">
                <a16:creationId xmlns:a16="http://schemas.microsoft.com/office/drawing/2014/main" id="{D719F7BC-63EB-4A31-93AC-2E348221ED00}"/>
              </a:ext>
            </a:extLst>
          </p:cNvPr>
          <p:cNvSpPr>
            <a:spLocks xmlns:a="http://schemas.openxmlformats.org/drawingml/2006/main" noGrp="1"/>
          </p:cNvSpPr>
          <p:nvPr/>
        </p:nvSpPr>
        <p:spPr>
          <a:xfrm xmlns:a="http://schemas.openxmlformats.org/drawingml/2006/main">
            <a:off x="9144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F73B560B-7788-404C-9EBB-8DDEC71286D3}"/>
              </a:ext>
            </a:extLst>
          </p:cNvPr>
          <p:cNvSpPr>
            <a:spLocks xmlns:a="http://schemas.openxmlformats.org/drawingml/2006/main" noGrp="1"/>
          </p:cNvSpPr>
          <p:nvPr/>
        </p:nvSpPr>
        <p:spPr>
          <a:xfrm xmlns:a="http://schemas.openxmlformats.org/drawingml/2006/main">
            <a:off x="1200150" y="4610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Lifecycle transactions</a:t>
            </a:r>
          </a:p>
        </p:txBody>
      </p:sp>
      <p:sp>
        <p:nvSpPr>
          <p:cNvPr id="19" name="">
            <a:extLst xmlns:a="http://schemas.openxmlformats.org/drawingml/2006/main">
              <a:ext uri="{FF2B5EF4-FFF2-40B4-BE49-F238E27FC236}">
                <a16:creationId xmlns:a16="http://schemas.microsoft.com/office/drawing/2014/main" id="{6DC022DE-1F8A-4A97-81B8-B5654D8B9D0F}"/>
              </a:ext>
            </a:extLst>
          </p:cNvPr>
          <p:cNvSpPr>
            <a:spLocks xmlns:a="http://schemas.openxmlformats.org/drawingml/2006/main" noGrp="1"/>
          </p:cNvSpPr>
          <p:nvPr/>
        </p:nvSpPr>
        <p:spPr>
          <a:xfrm xmlns:a="http://schemas.openxmlformats.org/drawingml/2006/main">
            <a:off x="4229100" y="1866900"/>
            <a:ext cx="3733800" cy="3543300"/>
          </a:xfrm>
          <a:prstGeom xmlns:a="http://schemas.openxmlformats.org/drawingml/2006/main" prst="roundRect">
            <a:avLst>
              <a:gd name="adj" fmla="val 5914"/>
            </a:avLst>
          </a:prstGeom>
          <a:solidFill xmlns:a="http://schemas.openxmlformats.org/drawingml/2006/main">
            <a:srgbClr val="F3F4F5"/>
          </a:solidFill>
          <a:ln xmlns:a="http://schemas.openxmlformats.org/drawingml/2006/main" w="9525">
            <a:solidFill>
              <a:srgbClr val="D9DDE1"/>
            </a:solidFill>
            <a:prstDash val="solid"/>
          </a:ln>
        </p:spPr>
      </p:sp>
      <p:sp>
        <p:nvSpPr>
          <p:cNvPr id="20" name="">
            <a:extLst xmlns:a="http://schemas.openxmlformats.org/drawingml/2006/main">
              <a:ext uri="{FF2B5EF4-FFF2-40B4-BE49-F238E27FC236}">
                <a16:creationId xmlns:a16="http://schemas.microsoft.com/office/drawing/2014/main" id="{C917DE17-801A-4EDE-9DA4-70F44979CD07}"/>
              </a:ext>
            </a:extLst>
          </p:cNvPr>
          <p:cNvSpPr>
            <a:spLocks xmlns:a="http://schemas.openxmlformats.org/drawingml/2006/main" noGrp="1"/>
          </p:cNvSpPr>
          <p:nvPr/>
        </p:nvSpPr>
        <p:spPr>
          <a:xfrm xmlns:a="http://schemas.openxmlformats.org/drawingml/2006/main">
            <a:off x="4457700" y="2133600"/>
            <a:ext cx="3276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EXECUTION PLANE</a:t>
            </a:r>
          </a:p>
        </p:txBody>
      </p:sp>
      <p:sp>
        <p:nvSpPr>
          <p:cNvPr id="21" name="">
            <a:extLst xmlns:a="http://schemas.openxmlformats.org/drawingml/2006/main">
              <a:ext uri="{FF2B5EF4-FFF2-40B4-BE49-F238E27FC236}">
                <a16:creationId xmlns:a16="http://schemas.microsoft.com/office/drawing/2014/main" id="{BD786B6B-A7FC-4B3F-BDEA-A349B0A03AFC}"/>
              </a:ext>
            </a:extLst>
          </p:cNvPr>
          <p:cNvSpPr>
            <a:spLocks xmlns:a="http://schemas.openxmlformats.org/drawingml/2006/main" noGrp="1"/>
          </p:cNvSpPr>
          <p:nvPr/>
        </p:nvSpPr>
        <p:spPr>
          <a:xfrm xmlns:a="http://schemas.openxmlformats.org/drawingml/2006/main">
            <a:off x="4457700" y="25336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Local agent</a:t>
            </a:r>
          </a:p>
        </p:txBody>
      </p:sp>
      <p:sp>
        <p:nvSpPr>
          <p:cNvPr id="22" name="">
            <a:extLst xmlns:a="http://schemas.openxmlformats.org/drawingml/2006/main">
              <a:ext uri="{FF2B5EF4-FFF2-40B4-BE49-F238E27FC236}">
                <a16:creationId xmlns:a16="http://schemas.microsoft.com/office/drawing/2014/main" id="{CA225EF9-FBC9-4F22-921D-C3694FC07CC7}"/>
              </a:ext>
            </a:extLst>
          </p:cNvPr>
          <p:cNvSpPr>
            <a:spLocks xmlns:a="http://schemas.openxmlformats.org/drawingml/2006/main" noGrp="1"/>
          </p:cNvSpPr>
          <p:nvPr/>
        </p:nvSpPr>
        <p:spPr>
          <a:xfrm xmlns:a="http://schemas.openxmlformats.org/drawingml/2006/main">
            <a:off x="44577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3B41B551-E163-49C6-904C-0A6FC8837978}"/>
              </a:ext>
            </a:extLst>
          </p:cNvPr>
          <p:cNvSpPr>
            <a:spLocks xmlns:a="http://schemas.openxmlformats.org/drawingml/2006/main" noGrp="1"/>
          </p:cNvSpPr>
          <p:nvPr/>
        </p:nvSpPr>
        <p:spPr>
          <a:xfrm xmlns:a="http://schemas.openxmlformats.org/drawingml/2006/main">
            <a:off x="4743450" y="32385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Adapter policy runner</a:t>
            </a:r>
          </a:p>
        </p:txBody>
      </p:sp>
      <p:sp>
        <p:nvSpPr>
          <p:cNvPr id="24" name="">
            <a:extLst xmlns:a="http://schemas.openxmlformats.org/drawingml/2006/main">
              <a:ext uri="{FF2B5EF4-FFF2-40B4-BE49-F238E27FC236}">
                <a16:creationId xmlns:a16="http://schemas.microsoft.com/office/drawing/2014/main" id="{9B137963-A8B8-4A27-9E22-2FE923DC9BAB}"/>
              </a:ext>
            </a:extLst>
          </p:cNvPr>
          <p:cNvSpPr>
            <a:spLocks xmlns:a="http://schemas.openxmlformats.org/drawingml/2006/main" noGrp="1"/>
          </p:cNvSpPr>
          <p:nvPr/>
        </p:nvSpPr>
        <p:spPr>
          <a:xfrm xmlns:a="http://schemas.openxmlformats.org/drawingml/2006/main">
            <a:off x="44577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A3AA9240-8B62-4F3B-BBED-65515FF69DA6}"/>
              </a:ext>
            </a:extLst>
          </p:cNvPr>
          <p:cNvSpPr>
            <a:spLocks xmlns:a="http://schemas.openxmlformats.org/drawingml/2006/main" noGrp="1"/>
          </p:cNvSpPr>
          <p:nvPr/>
        </p:nvSpPr>
        <p:spPr>
          <a:xfrm xmlns:a="http://schemas.openxmlformats.org/drawingml/2006/main">
            <a:off x="4743450" y="36957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Persistent browser</a:t>
            </a:r>
          </a:p>
        </p:txBody>
      </p:sp>
      <p:sp>
        <p:nvSpPr>
          <p:cNvPr id="26" name="">
            <a:extLst xmlns:a="http://schemas.openxmlformats.org/drawingml/2006/main">
              <a:ext uri="{FF2B5EF4-FFF2-40B4-BE49-F238E27FC236}">
                <a16:creationId xmlns:a16="http://schemas.microsoft.com/office/drawing/2014/main" id="{1901BDEB-DBDD-4FBE-A83B-5F6898B7411E}"/>
              </a:ext>
            </a:extLst>
          </p:cNvPr>
          <p:cNvSpPr>
            <a:spLocks xmlns:a="http://schemas.openxmlformats.org/drawingml/2006/main" noGrp="1"/>
          </p:cNvSpPr>
          <p:nvPr/>
        </p:nvSpPr>
        <p:spPr>
          <a:xfrm xmlns:a="http://schemas.openxmlformats.org/drawingml/2006/main">
            <a:off x="44577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A37EC192-3154-4949-8345-EE72C54968A1}"/>
              </a:ext>
            </a:extLst>
          </p:cNvPr>
          <p:cNvSpPr>
            <a:spLocks xmlns:a="http://schemas.openxmlformats.org/drawingml/2006/main" noGrp="1"/>
          </p:cNvSpPr>
          <p:nvPr/>
        </p:nvSpPr>
        <p:spPr>
          <a:xfrm xmlns:a="http://schemas.openxmlformats.org/drawingml/2006/main">
            <a:off x="4743450" y="41529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Human checkpoints</a:t>
            </a:r>
          </a:p>
        </p:txBody>
      </p:sp>
      <p:sp>
        <p:nvSpPr>
          <p:cNvPr id="28" name="">
            <a:extLst xmlns:a="http://schemas.openxmlformats.org/drawingml/2006/main">
              <a:ext uri="{FF2B5EF4-FFF2-40B4-BE49-F238E27FC236}">
                <a16:creationId xmlns:a16="http://schemas.microsoft.com/office/drawing/2014/main" id="{BB8608D2-D7D2-48E8-BB0A-0CA78C255273}"/>
              </a:ext>
            </a:extLst>
          </p:cNvPr>
          <p:cNvSpPr>
            <a:spLocks xmlns:a="http://schemas.openxmlformats.org/drawingml/2006/main" noGrp="1"/>
          </p:cNvSpPr>
          <p:nvPr/>
        </p:nvSpPr>
        <p:spPr>
          <a:xfrm xmlns:a="http://schemas.openxmlformats.org/drawingml/2006/main">
            <a:off x="44577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C4DA9033-87F9-45B4-8D0D-1E85C9D9035D}"/>
              </a:ext>
            </a:extLst>
          </p:cNvPr>
          <p:cNvSpPr>
            <a:spLocks xmlns:a="http://schemas.openxmlformats.org/drawingml/2006/main" noGrp="1"/>
          </p:cNvSpPr>
          <p:nvPr/>
        </p:nvSpPr>
        <p:spPr>
          <a:xfrm xmlns:a="http://schemas.openxmlformats.org/drawingml/2006/main">
            <a:off x="4743450" y="46101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AgentMail 3DS input</a:t>
            </a:r>
          </a:p>
        </p:txBody>
      </p:sp>
      <p:sp>
        <p:nvSpPr>
          <p:cNvPr id="30" name="">
            <a:extLst xmlns:a="http://schemas.openxmlformats.org/drawingml/2006/main">
              <a:ext uri="{FF2B5EF4-FFF2-40B4-BE49-F238E27FC236}">
                <a16:creationId xmlns:a16="http://schemas.microsoft.com/office/drawing/2014/main" id="{0CD4FED1-DD1C-4933-98C1-C3E86C1F0C7A}"/>
              </a:ext>
            </a:extLst>
          </p:cNvPr>
          <p:cNvSpPr>
            <a:spLocks xmlns:a="http://schemas.openxmlformats.org/drawingml/2006/main" noGrp="1"/>
          </p:cNvSpPr>
          <p:nvPr/>
        </p:nvSpPr>
        <p:spPr>
          <a:xfrm xmlns:a="http://schemas.openxmlformats.org/drawingml/2006/main">
            <a:off x="8458200" y="1866900"/>
            <a:ext cx="3048000" cy="3543300"/>
          </a:xfrm>
          <a:prstGeom xmlns:a="http://schemas.openxmlformats.org/drawingml/2006/main" prst="roundRect">
            <a:avLst>
              <a:gd name="adj" fmla="val 6875"/>
            </a:avLst>
          </a:prstGeom>
          <a:solidFill xmlns:a="http://schemas.openxmlformats.org/drawingml/2006/main">
            <a:srgbClr val="DDF6EE"/>
          </a:solidFill>
          <a:ln xmlns:a="http://schemas.openxmlformats.org/drawingml/2006/main" w="9525">
            <a:solidFill>
              <a:srgbClr val="35B88F"/>
            </a:solidFill>
            <a:prstDash val="solid"/>
          </a:ln>
        </p:spPr>
      </p:sp>
      <p:sp>
        <p:nvSpPr>
          <p:cNvPr id="31" name="">
            <a:extLst xmlns:a="http://schemas.openxmlformats.org/drawingml/2006/main">
              <a:ext uri="{FF2B5EF4-FFF2-40B4-BE49-F238E27FC236}">
                <a16:creationId xmlns:a16="http://schemas.microsoft.com/office/drawing/2014/main" id="{5C67167E-8938-4586-BCDF-6ED68B0E7885}"/>
              </a:ext>
            </a:extLst>
          </p:cNvPr>
          <p:cNvSpPr>
            <a:spLocks xmlns:a="http://schemas.openxmlformats.org/drawingml/2006/main" noGrp="1"/>
          </p:cNvSpPr>
          <p:nvPr/>
        </p:nvSpPr>
        <p:spPr>
          <a:xfrm xmlns:a="http://schemas.openxmlformats.org/drawingml/2006/main">
            <a:off x="8686800" y="2133600"/>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EVIDENCE PLANE</a:t>
            </a:r>
          </a:p>
        </p:txBody>
      </p:sp>
      <p:sp>
        <p:nvSpPr>
          <p:cNvPr id="32" name="">
            <a:extLst xmlns:a="http://schemas.openxmlformats.org/drawingml/2006/main">
              <a:ext uri="{FF2B5EF4-FFF2-40B4-BE49-F238E27FC236}">
                <a16:creationId xmlns:a16="http://schemas.microsoft.com/office/drawing/2014/main" id="{1F835244-093E-47CF-AC8F-E7B2DA2BDC9A}"/>
              </a:ext>
            </a:extLst>
          </p:cNvPr>
          <p:cNvSpPr>
            <a:spLocks xmlns:a="http://schemas.openxmlformats.org/drawingml/2006/main" noGrp="1"/>
          </p:cNvSpPr>
          <p:nvPr/>
        </p:nvSpPr>
        <p:spPr>
          <a:xfrm xmlns:a="http://schemas.openxmlformats.org/drawingml/2006/main">
            <a:off x="8686800" y="25336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Proof artifacts</a:t>
            </a:r>
          </a:p>
        </p:txBody>
      </p:sp>
      <p:sp>
        <p:nvSpPr>
          <p:cNvPr id="33" name="">
            <a:extLst xmlns:a="http://schemas.openxmlformats.org/drawingml/2006/main">
              <a:ext uri="{FF2B5EF4-FFF2-40B4-BE49-F238E27FC236}">
                <a16:creationId xmlns:a16="http://schemas.microsoft.com/office/drawing/2014/main" id="{5FFA728F-582D-4E69-87BC-E8C4D31794D4}"/>
              </a:ext>
            </a:extLst>
          </p:cNvPr>
          <p:cNvSpPr>
            <a:spLocks xmlns:a="http://schemas.openxmlformats.org/drawingml/2006/main" noGrp="1"/>
          </p:cNvSpPr>
          <p:nvPr/>
        </p:nvSpPr>
        <p:spPr>
          <a:xfrm xmlns:a="http://schemas.openxmlformats.org/drawingml/2006/main">
            <a:off x="86868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7EED327F-5A8F-4C40-B658-B6A2199F380E}"/>
              </a:ext>
            </a:extLst>
          </p:cNvPr>
          <p:cNvSpPr>
            <a:spLocks xmlns:a="http://schemas.openxmlformats.org/drawingml/2006/main" noGrp="1"/>
          </p:cNvSpPr>
          <p:nvPr/>
        </p:nvSpPr>
        <p:spPr>
          <a:xfrm xmlns:a="http://schemas.openxmlformats.org/drawingml/2006/main">
            <a:off x="8972550" y="3238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Quote + order ID</a:t>
            </a:r>
          </a:p>
        </p:txBody>
      </p:sp>
      <p:sp>
        <p:nvSpPr>
          <p:cNvPr id="35" name="">
            <a:extLst xmlns:a="http://schemas.openxmlformats.org/drawingml/2006/main">
              <a:ext uri="{FF2B5EF4-FFF2-40B4-BE49-F238E27FC236}">
                <a16:creationId xmlns:a16="http://schemas.microsoft.com/office/drawing/2014/main" id="{EA4A422D-A02F-4619-9BD2-4891C188C6CC}"/>
              </a:ext>
            </a:extLst>
          </p:cNvPr>
          <p:cNvSpPr>
            <a:spLocks xmlns:a="http://schemas.openxmlformats.org/drawingml/2006/main" noGrp="1"/>
          </p:cNvSpPr>
          <p:nvPr/>
        </p:nvSpPr>
        <p:spPr>
          <a:xfrm xmlns:a="http://schemas.openxmlformats.org/drawingml/2006/main">
            <a:off x="86868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6" name="">
            <a:extLst xmlns:a="http://schemas.openxmlformats.org/drawingml/2006/main">
              <a:ext uri="{FF2B5EF4-FFF2-40B4-BE49-F238E27FC236}">
                <a16:creationId xmlns:a16="http://schemas.microsoft.com/office/drawing/2014/main" id="{1E355410-44C9-4BDC-BC9F-4B6E523B3883}"/>
              </a:ext>
            </a:extLst>
          </p:cNvPr>
          <p:cNvSpPr>
            <a:spLocks xmlns:a="http://schemas.openxmlformats.org/drawingml/2006/main" noGrp="1"/>
          </p:cNvSpPr>
          <p:nvPr/>
        </p:nvSpPr>
        <p:spPr>
          <a:xfrm xmlns:a="http://schemas.openxmlformats.org/drawingml/2006/main">
            <a:off x="8972550" y="3695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Screenshots + status</a:t>
            </a:r>
          </a:p>
        </p:txBody>
      </p:sp>
      <p:sp>
        <p:nvSpPr>
          <p:cNvPr id="37" name="">
            <a:extLst xmlns:a="http://schemas.openxmlformats.org/drawingml/2006/main">
              <a:ext uri="{FF2B5EF4-FFF2-40B4-BE49-F238E27FC236}">
                <a16:creationId xmlns:a16="http://schemas.microsoft.com/office/drawing/2014/main" id="{3F1F804D-6C34-4AFF-81C8-199CF7E067E3}"/>
              </a:ext>
            </a:extLst>
          </p:cNvPr>
          <p:cNvSpPr>
            <a:spLocks xmlns:a="http://schemas.openxmlformats.org/drawingml/2006/main" noGrp="1"/>
          </p:cNvSpPr>
          <p:nvPr/>
        </p:nvSpPr>
        <p:spPr>
          <a:xfrm xmlns:a="http://schemas.openxmlformats.org/drawingml/2006/main">
            <a:off x="86868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8" name="">
            <a:extLst xmlns:a="http://schemas.openxmlformats.org/drawingml/2006/main">
              <a:ext uri="{FF2B5EF4-FFF2-40B4-BE49-F238E27FC236}">
                <a16:creationId xmlns:a16="http://schemas.microsoft.com/office/drawing/2014/main" id="{C5F39162-D3B1-4569-BC27-AAD826EAFBAA}"/>
              </a:ext>
            </a:extLst>
          </p:cNvPr>
          <p:cNvSpPr>
            <a:spLocks xmlns:a="http://schemas.openxmlformats.org/drawingml/2006/main" noGrp="1"/>
          </p:cNvSpPr>
          <p:nvPr/>
        </p:nvSpPr>
        <p:spPr>
          <a:xfrm xmlns:a="http://schemas.openxmlformats.org/drawingml/2006/main">
            <a:off x="8972550" y="4152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Payment audit</a:t>
            </a:r>
          </a:p>
        </p:txBody>
      </p:sp>
      <p:sp>
        <p:nvSpPr>
          <p:cNvPr id="39" name="">
            <a:extLst xmlns:a="http://schemas.openxmlformats.org/drawingml/2006/main">
              <a:ext uri="{FF2B5EF4-FFF2-40B4-BE49-F238E27FC236}">
                <a16:creationId xmlns:a16="http://schemas.microsoft.com/office/drawing/2014/main" id="{4B734094-FFB0-482B-A6F9-DC76D9299CEB}"/>
              </a:ext>
            </a:extLst>
          </p:cNvPr>
          <p:cNvSpPr>
            <a:spLocks xmlns:a="http://schemas.openxmlformats.org/drawingml/2006/main" noGrp="1"/>
          </p:cNvSpPr>
          <p:nvPr/>
        </p:nvSpPr>
        <p:spPr>
          <a:xfrm xmlns:a="http://schemas.openxmlformats.org/drawingml/2006/main">
            <a:off x="86868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9FFA809D-7C66-4EBE-B1E0-5EBEEFB2F448}"/>
              </a:ext>
            </a:extLst>
          </p:cNvPr>
          <p:cNvSpPr>
            <a:spLocks xmlns:a="http://schemas.openxmlformats.org/drawingml/2006/main" noGrp="1"/>
          </p:cNvSpPr>
          <p:nvPr/>
        </p:nvSpPr>
        <p:spPr>
          <a:xfrm xmlns:a="http://schemas.openxmlformats.org/drawingml/2006/main">
            <a:off x="8972550" y="4610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Delivery/photo hash</a:t>
            </a:r>
          </a:p>
        </p:txBody>
      </p:sp>
      <p:sp>
        <p:nvSpPr>
          <p:cNvPr id="41" name="">
            <a:extLst xmlns:a="http://schemas.openxmlformats.org/drawingml/2006/main">
              <a:ext uri="{FF2B5EF4-FFF2-40B4-BE49-F238E27FC236}">
                <a16:creationId xmlns:a16="http://schemas.microsoft.com/office/drawing/2014/main" id="{4C250582-0C41-4DD0-B51E-4FDCFF8318B4}"/>
              </a:ext>
            </a:extLst>
          </p:cNvPr>
          <p:cNvSpPr>
            <a:spLocks xmlns:a="http://schemas.openxmlformats.org/drawingml/2006/main" noGrp="1"/>
          </p:cNvSpPr>
          <p:nvPr/>
        </p:nvSpPr>
        <p:spPr>
          <a:xfrm xmlns:a="http://schemas.openxmlformats.org/drawingml/2006/main">
            <a:off x="1333500" y="5772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79"/>
          </a:bodyPr>
          <a:lstStyle xmlns:a="http://schemas.openxmlformats.org/drawingml/2006/main"/>
          <a:p xmlns:a="http://schemas.openxmlformats.org/drawingml/2006/main">
            <a:pPr algn="ctr">
              <a:lnSpc>
                <a:spcPct val="100000"/>
              </a:lnSpc>
              <a:buNone/>
              <a:defRPr sz="1650" b="1">
                <a:solidFill>
                  <a:srgbClr val="E45757"/>
                </a:solidFill>
                <a:latin typeface="Helvetica Neue"/>
                <a:ea typeface="Helvetica Neue"/>
                <a:cs typeface="Helvetica Neue"/>
              </a:defRPr>
            </a:pPr>
            <a:r>
              <a:rPr sz="1650" b="1">
                <a:solidFill>
                  <a:srgbClr val="E45757"/>
                </a:solidFill>
                <a:latin typeface="Helvetica Neue"/>
                <a:ea typeface="Helvetica Neue"/>
                <a:cs typeface="Helvetica Neue"/>
              </a:rPr>
              <a:t>Boundary rule: card secrets, OTPs, browser cookies, addresses, and raw email bodies stay off-chain.</a:t>
            </a:r>
          </a:p>
        </p:txBody>
      </p:sp>
      <p:sp>
        <p:nvSpPr>
          <p:cNvPr id="42" name="">
            <a:extLst xmlns:a="http://schemas.openxmlformats.org/drawingml/2006/main">
              <a:ext uri="{FF2B5EF4-FFF2-40B4-BE49-F238E27FC236}">
                <a16:creationId xmlns:a16="http://schemas.microsoft.com/office/drawing/2014/main" id="{644A86B8-31AA-4BFB-98E4-82F786A80AA6}"/>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43" name="">
            <a:extLst xmlns:a="http://schemas.openxmlformats.org/drawingml/2006/main">
              <a:ext uri="{FF2B5EF4-FFF2-40B4-BE49-F238E27FC236}">
                <a16:creationId xmlns:a16="http://schemas.microsoft.com/office/drawing/2014/main" id="{B45F2480-9DE3-4805-BAD5-FFA1D691341E}"/>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556341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B11326D-6876-40A3-9695-3E41CD3CC8D8}"/>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SAFETY MODEL</a:t>
            </a:r>
          </a:p>
        </p:txBody>
      </p:sp>
      <p:sp>
        <p:nvSpPr>
          <p:cNvPr id="2" name="">
            <a:extLst xmlns:a="http://schemas.openxmlformats.org/drawingml/2006/main">
              <a:ext uri="{FF2B5EF4-FFF2-40B4-BE49-F238E27FC236}">
                <a16:creationId xmlns:a16="http://schemas.microsoft.com/office/drawing/2014/main" id="{F3ECE173-B647-4A9D-8820-C1460E40C20C}"/>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Payment stayed human-controlled</a:t>
            </a:r>
          </a:p>
        </p:txBody>
      </p:sp>
      <p:sp>
        <p:nvSpPr>
          <p:cNvPr id="3" name="">
            <a:extLst xmlns:a="http://schemas.openxmlformats.org/drawingml/2006/main">
              <a:ext uri="{FF2B5EF4-FFF2-40B4-BE49-F238E27FC236}">
                <a16:creationId xmlns:a16="http://schemas.microsoft.com/office/drawing/2014/main" id="{9EB3A6F0-534B-42A3-9ABA-A580DF4DBEE0}"/>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F656851-55F0-4496-BDEA-E69E6F3338DD}"/>
              </a:ext>
            </a:extLst>
          </p:cNvPr>
          <p:cNvSpPr>
            <a:spLocks xmlns:a="http://schemas.openxmlformats.org/drawingml/2006/main" noGrp="1"/>
          </p:cNvSpPr>
          <p:nvPr/>
        </p:nvSpPr>
        <p:spPr>
          <a:xfrm xmlns:a="http://schemas.openxmlformats.org/drawingml/2006/main">
            <a:off x="1504950" y="3181350"/>
            <a:ext cx="9144000" cy="0"/>
          </a:xfrm>
          <a:prstGeom xmlns:a="http://schemas.openxmlformats.org/drawingml/2006/main" prst="line">
            <a:avLst/>
          </a:prstGeom>
          <a:noFill xmlns:a="http://schemas.openxmlformats.org/drawingml/2006/main"/>
          <a:ln xmlns:a="http://schemas.openxmlformats.org/drawingml/2006/main" w="38100">
            <a:solidFill>
              <a:srgbClr val="D9DDE1"/>
            </a:solidFill>
            <a:prstDash val="solid"/>
          </a:ln>
        </p:spPr>
      </p:sp>
      <p:sp>
        <p:nvSpPr>
          <p:cNvPr id="5" name="">
            <a:extLst xmlns:a="http://schemas.openxmlformats.org/drawingml/2006/main">
              <a:ext uri="{FF2B5EF4-FFF2-40B4-BE49-F238E27FC236}">
                <a16:creationId xmlns:a16="http://schemas.microsoft.com/office/drawing/2014/main" id="{289087E0-231E-41A2-8ED2-6CD99E8789E1}"/>
              </a:ext>
            </a:extLst>
          </p:cNvPr>
          <p:cNvSpPr>
            <a:spLocks xmlns:a="http://schemas.openxmlformats.org/drawingml/2006/main" noGrp="1"/>
          </p:cNvSpPr>
          <p:nvPr/>
        </p:nvSpPr>
        <p:spPr>
          <a:xfrm xmlns:a="http://schemas.openxmlformats.org/drawingml/2006/main">
            <a:off x="1962150" y="2809875"/>
            <a:ext cx="742950" cy="742950"/>
          </a:xfrm>
          <a:prstGeom xmlns:a="http://schemas.openxmlformats.org/drawingml/2006/main" prst="ellipse">
            <a:avLst/>
          </a:prstGeom>
          <a:solidFill xmlns:a="http://schemas.openxmlformats.org/drawingml/2006/main">
            <a:srgbClr val="3D8DFF"/>
          </a:solidFill>
          <a:ln xmlns:a="http://schemas.openxmlformats.org/drawingml/2006/main" w="57150">
            <a:solidFill>
              <a:srgbClr val="FFFFFF"/>
            </a:solidFill>
            <a:prstDash val="solid"/>
          </a:ln>
        </p:spPr>
      </p:sp>
      <p:sp>
        <p:nvSpPr>
          <p:cNvPr id="6" name="">
            <a:extLst xmlns:a="http://schemas.openxmlformats.org/drawingml/2006/main">
              <a:ext uri="{FF2B5EF4-FFF2-40B4-BE49-F238E27FC236}">
                <a16:creationId xmlns:a16="http://schemas.microsoft.com/office/drawing/2014/main" id="{E60650D8-C2AA-4476-B3BB-FDAAAF85FCE6}"/>
              </a:ext>
            </a:extLst>
          </p:cNvPr>
          <p:cNvSpPr>
            <a:spLocks xmlns:a="http://schemas.openxmlformats.org/drawingml/2006/main" noGrp="1"/>
          </p:cNvSpPr>
          <p:nvPr/>
        </p:nvSpPr>
        <p:spPr>
          <a:xfrm xmlns:a="http://schemas.openxmlformats.org/drawingml/2006/main">
            <a:off x="19621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FF068EA-4E66-46BE-9825-163D2414310D}"/>
              </a:ext>
            </a:extLst>
          </p:cNvPr>
          <p:cNvSpPr>
            <a:spLocks xmlns:a="http://schemas.openxmlformats.org/drawingml/2006/main" noGrp="1"/>
          </p:cNvSpPr>
          <p:nvPr/>
        </p:nvSpPr>
        <p:spPr>
          <a:xfrm xmlns:a="http://schemas.openxmlformats.org/drawingml/2006/main">
            <a:off x="9334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CHECKLIST</a:t>
            </a:r>
          </a:p>
        </p:txBody>
      </p:sp>
      <p:sp>
        <p:nvSpPr>
          <p:cNvPr id="8" name="">
            <a:extLst xmlns:a="http://schemas.openxmlformats.org/drawingml/2006/main">
              <a:ext uri="{FF2B5EF4-FFF2-40B4-BE49-F238E27FC236}">
                <a16:creationId xmlns:a16="http://schemas.microsoft.com/office/drawing/2014/main" id="{9EA475B4-75DD-48A9-B26C-ADDA62E5F8B1}"/>
              </a:ext>
            </a:extLst>
          </p:cNvPr>
          <p:cNvSpPr>
            <a:spLocks xmlns:a="http://schemas.openxmlformats.org/drawingml/2006/main" noGrp="1"/>
          </p:cNvSpPr>
          <p:nvPr/>
        </p:nvSpPr>
        <p:spPr>
          <a:xfrm xmlns:a="http://schemas.openxmlformats.org/drawingml/2006/main">
            <a:off x="9334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Venue, basket, note, cap</a:t>
            </a:r>
          </a:p>
        </p:txBody>
      </p:sp>
      <p:sp>
        <p:nvSpPr>
          <p:cNvPr id="9" name="">
            <a:extLst xmlns:a="http://schemas.openxmlformats.org/drawingml/2006/main">
              <a:ext uri="{FF2B5EF4-FFF2-40B4-BE49-F238E27FC236}">
                <a16:creationId xmlns:a16="http://schemas.microsoft.com/office/drawing/2014/main" id="{58FCFCAA-4E70-4DD8-9708-17A44200C5A0}"/>
              </a:ext>
            </a:extLst>
          </p:cNvPr>
          <p:cNvSpPr>
            <a:spLocks xmlns:a="http://schemas.openxmlformats.org/drawingml/2006/main" noGrp="1"/>
          </p:cNvSpPr>
          <p:nvPr/>
        </p:nvSpPr>
        <p:spPr>
          <a:xfrm xmlns:a="http://schemas.openxmlformats.org/drawingml/2006/main">
            <a:off x="5695950" y="2809875"/>
            <a:ext cx="742950" cy="742950"/>
          </a:xfrm>
          <a:prstGeom xmlns:a="http://schemas.openxmlformats.org/drawingml/2006/main" prst="ellipse">
            <a:avLst/>
          </a:prstGeom>
          <a:solidFill xmlns:a="http://schemas.openxmlformats.org/drawingml/2006/main">
            <a:srgbClr val="3D8DFF"/>
          </a:solidFill>
          <a:ln xmlns:a="http://schemas.openxmlformats.org/drawingml/2006/main" w="57150">
            <a:solidFill>
              <a:srgbClr val="FFFFFF"/>
            </a:solidFill>
            <a:prstDash val="solid"/>
          </a:ln>
        </p:spPr>
      </p:sp>
      <p:sp>
        <p:nvSpPr>
          <p:cNvPr id="10" name="">
            <a:extLst xmlns:a="http://schemas.openxmlformats.org/drawingml/2006/main">
              <a:ext uri="{FF2B5EF4-FFF2-40B4-BE49-F238E27FC236}">
                <a16:creationId xmlns:a16="http://schemas.microsoft.com/office/drawing/2014/main" id="{FF9CD1A3-EB77-4E23-8474-642FE8657847}"/>
              </a:ext>
            </a:extLst>
          </p:cNvPr>
          <p:cNvSpPr>
            <a:spLocks xmlns:a="http://schemas.openxmlformats.org/drawingml/2006/main" noGrp="1"/>
          </p:cNvSpPr>
          <p:nvPr/>
        </p:nvSpPr>
        <p:spPr>
          <a:xfrm xmlns:a="http://schemas.openxmlformats.org/drawingml/2006/main">
            <a:off x="56959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179DBDC-C437-4C6D-BFD3-A4C4D6796EC4}"/>
              </a:ext>
            </a:extLst>
          </p:cNvPr>
          <p:cNvSpPr>
            <a:spLocks xmlns:a="http://schemas.openxmlformats.org/drawingml/2006/main" noGrp="1"/>
          </p:cNvSpPr>
          <p:nvPr/>
        </p:nvSpPr>
        <p:spPr>
          <a:xfrm xmlns:a="http://schemas.openxmlformats.org/drawingml/2006/main">
            <a:off x="46672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QUOTE APPROVAL</a:t>
            </a:r>
          </a:p>
        </p:txBody>
      </p:sp>
      <p:sp>
        <p:nvSpPr>
          <p:cNvPr id="12" name="">
            <a:extLst xmlns:a="http://schemas.openxmlformats.org/drawingml/2006/main">
              <a:ext uri="{FF2B5EF4-FFF2-40B4-BE49-F238E27FC236}">
                <a16:creationId xmlns:a16="http://schemas.microsoft.com/office/drawing/2014/main" id="{86E437D3-D2DD-4B93-A656-F625A6CC6104}"/>
              </a:ext>
            </a:extLst>
          </p:cNvPr>
          <p:cNvSpPr>
            <a:spLocks xmlns:a="http://schemas.openxmlformats.org/drawingml/2006/main" noGrp="1"/>
          </p:cNvSpPr>
          <p:nvPr/>
        </p:nvSpPr>
        <p:spPr>
          <a:xfrm xmlns:a="http://schemas.openxmlformats.org/drawingml/2006/main">
            <a:off x="46672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25.24 PLN, exact string</a:t>
            </a:r>
          </a:p>
        </p:txBody>
      </p:sp>
      <p:sp>
        <p:nvSpPr>
          <p:cNvPr id="13" name="">
            <a:extLst xmlns:a="http://schemas.openxmlformats.org/drawingml/2006/main">
              <a:ext uri="{FF2B5EF4-FFF2-40B4-BE49-F238E27FC236}">
                <a16:creationId xmlns:a16="http://schemas.microsoft.com/office/drawing/2014/main" id="{844C35C9-500E-480B-A635-635CDE1C656B}"/>
              </a:ext>
            </a:extLst>
          </p:cNvPr>
          <p:cNvSpPr>
            <a:spLocks xmlns:a="http://schemas.openxmlformats.org/drawingml/2006/main" noGrp="1"/>
          </p:cNvSpPr>
          <p:nvPr/>
        </p:nvSpPr>
        <p:spPr>
          <a:xfrm xmlns:a="http://schemas.openxmlformats.org/drawingml/2006/main">
            <a:off x="9429750" y="2809875"/>
            <a:ext cx="742950" cy="742950"/>
          </a:xfrm>
          <a:prstGeom xmlns:a="http://schemas.openxmlformats.org/drawingml/2006/main" prst="ellipse">
            <a:avLst/>
          </a:prstGeom>
          <a:solidFill xmlns:a="http://schemas.openxmlformats.org/drawingml/2006/main">
            <a:srgbClr val="35B88F"/>
          </a:solidFill>
          <a:ln xmlns:a="http://schemas.openxmlformats.org/drawingml/2006/main" w="57150">
            <a:solidFill>
              <a:srgbClr val="FFFFFF"/>
            </a:solidFill>
            <a:prstDash val="solid"/>
          </a:ln>
        </p:spPr>
      </p:sp>
      <p:sp>
        <p:nvSpPr>
          <p:cNvPr id="14" name="">
            <a:extLst xmlns:a="http://schemas.openxmlformats.org/drawingml/2006/main">
              <a:ext uri="{FF2B5EF4-FFF2-40B4-BE49-F238E27FC236}">
                <a16:creationId xmlns:a16="http://schemas.microsoft.com/office/drawing/2014/main" id="{2BF00DB2-8E97-430D-9BD6-3494E9533A7C}"/>
              </a:ext>
            </a:extLst>
          </p:cNvPr>
          <p:cNvSpPr>
            <a:spLocks xmlns:a="http://schemas.openxmlformats.org/drawingml/2006/main" noGrp="1"/>
          </p:cNvSpPr>
          <p:nvPr/>
        </p:nvSpPr>
        <p:spPr>
          <a:xfrm xmlns:a="http://schemas.openxmlformats.org/drawingml/2006/main">
            <a:off x="94297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CBEEF8F-D089-44FC-99E2-418681318759}"/>
              </a:ext>
            </a:extLst>
          </p:cNvPr>
          <p:cNvSpPr>
            <a:spLocks xmlns:a="http://schemas.openxmlformats.org/drawingml/2006/main" noGrp="1"/>
          </p:cNvSpPr>
          <p:nvPr/>
        </p:nvSpPr>
        <p:spPr>
          <a:xfrm xmlns:a="http://schemas.openxmlformats.org/drawingml/2006/main">
            <a:off x="84010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PAY + 3DS</a:t>
            </a:r>
          </a:p>
        </p:txBody>
      </p:sp>
      <p:sp>
        <p:nvSpPr>
          <p:cNvPr id="16" name="">
            <a:extLst xmlns:a="http://schemas.openxmlformats.org/drawingml/2006/main">
              <a:ext uri="{FF2B5EF4-FFF2-40B4-BE49-F238E27FC236}">
                <a16:creationId xmlns:a16="http://schemas.microsoft.com/office/drawing/2014/main" id="{3657B206-874B-4913-A71B-83574F93C0AD}"/>
              </a:ext>
            </a:extLst>
          </p:cNvPr>
          <p:cNvSpPr>
            <a:spLocks xmlns:a="http://schemas.openxmlformats.org/drawingml/2006/main" noGrp="1"/>
          </p:cNvSpPr>
          <p:nvPr/>
        </p:nvSpPr>
        <p:spPr>
          <a:xfrm xmlns:a="http://schemas.openxmlformats.org/drawingml/2006/main">
            <a:off x="84010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13"/>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One attempt, email challenge</a:t>
            </a:r>
          </a:p>
        </p:txBody>
      </p:sp>
      <p:sp>
        <p:nvSpPr>
          <p:cNvPr id="17" name="">
            <a:extLst xmlns:a="http://schemas.openxmlformats.org/drawingml/2006/main">
              <a:ext uri="{FF2B5EF4-FFF2-40B4-BE49-F238E27FC236}">
                <a16:creationId xmlns:a16="http://schemas.microsoft.com/office/drawing/2014/main" id="{7A35086C-FF71-4812-908E-C8E926D42B04}"/>
              </a:ext>
            </a:extLst>
          </p:cNvPr>
          <p:cNvSpPr>
            <a:spLocks xmlns:a="http://schemas.openxmlformats.org/drawingml/2006/main" noGrp="1"/>
          </p:cNvSpPr>
          <p:nvPr/>
        </p:nvSpPr>
        <p:spPr>
          <a:xfrm xmlns:a="http://schemas.openxmlformats.org/drawingml/2006/main">
            <a:off x="800100" y="5524500"/>
            <a:ext cx="1809750" cy="304800"/>
          </a:xfrm>
          <a:prstGeom xmlns:a="http://schemas.openxmlformats.org/drawingml/2006/main" prst="roundRect">
            <a:avLst>
              <a:gd name="adj" fmla="val 50000"/>
            </a:avLst>
          </a:prstGeom>
          <a:solidFill xmlns:a="http://schemas.openxmlformats.org/drawingml/2006/main">
            <a:srgbClr val="FFE3E3"/>
          </a:solidFill>
          <a:ln xmlns:a="http://schemas.openxmlformats.org/drawingml/2006/main" w="9525">
            <a:solidFill>
              <a:srgbClr val="FFE3E3"/>
            </a:solidFill>
            <a:prstDash val="solid"/>
          </a:ln>
        </p:spPr>
      </p:sp>
      <p:sp>
        <p:nvSpPr>
          <p:cNvPr id="18" name="">
            <a:extLst xmlns:a="http://schemas.openxmlformats.org/drawingml/2006/main">
              <a:ext uri="{FF2B5EF4-FFF2-40B4-BE49-F238E27FC236}">
                <a16:creationId xmlns:a16="http://schemas.microsoft.com/office/drawing/2014/main" id="{CB2B4F02-1ED2-4099-A6FD-ED232409B216}"/>
              </a:ext>
            </a:extLst>
          </p:cNvPr>
          <p:cNvSpPr>
            <a:spLocks xmlns:a="http://schemas.openxmlformats.org/drawingml/2006/main" noGrp="1"/>
          </p:cNvSpPr>
          <p:nvPr/>
        </p:nvSpPr>
        <p:spPr>
          <a:xfrm xmlns:a="http://schemas.openxmlformats.org/drawingml/2006/main">
            <a:off x="800100" y="5581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9C2828"/>
                </a:solidFill>
                <a:latin typeface="Helvetica Neue"/>
                <a:ea typeface="Helvetica Neue"/>
                <a:cs typeface="Helvetica Neue"/>
              </a:defRPr>
            </a:pPr>
            <a:r>
              <a:rPr sz="1050" b="1">
                <a:solidFill>
                  <a:srgbClr val="9C2828"/>
                </a:solidFill>
                <a:latin typeface="Helvetica Neue"/>
                <a:ea typeface="Helvetica Neue"/>
                <a:cs typeface="Helvetica Neue"/>
              </a:rPr>
              <a:t>DEFAULT: PAY OFF</a:t>
            </a:r>
          </a:p>
        </p:txBody>
      </p:sp>
      <p:sp>
        <p:nvSpPr>
          <p:cNvPr id="19" name="">
            <a:extLst xmlns:a="http://schemas.openxmlformats.org/drawingml/2006/main">
              <a:ext uri="{FF2B5EF4-FFF2-40B4-BE49-F238E27FC236}">
                <a16:creationId xmlns:a16="http://schemas.microsoft.com/office/drawing/2014/main" id="{FA052E21-804B-43D5-95AD-2672DCCB1511}"/>
              </a:ext>
            </a:extLst>
          </p:cNvPr>
          <p:cNvSpPr>
            <a:spLocks xmlns:a="http://schemas.openxmlformats.org/drawingml/2006/main" noGrp="1"/>
          </p:cNvSpPr>
          <p:nvPr/>
        </p:nvSpPr>
        <p:spPr>
          <a:xfrm xmlns:a="http://schemas.openxmlformats.org/drawingml/2006/main">
            <a:off x="2800350" y="5524500"/>
            <a:ext cx="21717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0" name="">
            <a:extLst xmlns:a="http://schemas.openxmlformats.org/drawingml/2006/main">
              <a:ext uri="{FF2B5EF4-FFF2-40B4-BE49-F238E27FC236}">
                <a16:creationId xmlns:a16="http://schemas.microsoft.com/office/drawing/2014/main" id="{52A9932F-C585-469D-BC26-94C245C17004}"/>
              </a:ext>
            </a:extLst>
          </p:cNvPr>
          <p:cNvSpPr>
            <a:spLocks xmlns:a="http://schemas.openxmlformats.org/drawingml/2006/main" noGrp="1"/>
          </p:cNvSpPr>
          <p:nvPr/>
        </p:nvSpPr>
        <p:spPr>
          <a:xfrm xmlns:a="http://schemas.openxmlformats.org/drawingml/2006/main">
            <a:off x="2800350" y="558165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NO PAN / OTP ON-CHAIN</a:t>
            </a:r>
          </a:p>
        </p:txBody>
      </p:sp>
      <p:sp>
        <p:nvSpPr>
          <p:cNvPr id="21" name="">
            <a:extLst xmlns:a="http://schemas.openxmlformats.org/drawingml/2006/main">
              <a:ext uri="{FF2B5EF4-FFF2-40B4-BE49-F238E27FC236}">
                <a16:creationId xmlns:a16="http://schemas.microsoft.com/office/drawing/2014/main" id="{E3C4FFAA-DED0-4323-971D-2E8C2542338E}"/>
              </a:ext>
            </a:extLst>
          </p:cNvPr>
          <p:cNvSpPr>
            <a:spLocks xmlns:a="http://schemas.openxmlformats.org/drawingml/2006/main" noGrp="1"/>
          </p:cNvSpPr>
          <p:nvPr/>
        </p:nvSpPr>
        <p:spPr>
          <a:xfrm xmlns:a="http://schemas.openxmlformats.org/drawingml/2006/main">
            <a:off x="5162550" y="5524500"/>
            <a:ext cx="17907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2" name="">
            <a:extLst xmlns:a="http://schemas.openxmlformats.org/drawingml/2006/main">
              <a:ext uri="{FF2B5EF4-FFF2-40B4-BE49-F238E27FC236}">
                <a16:creationId xmlns:a16="http://schemas.microsoft.com/office/drawing/2014/main" id="{4D33A940-ECFE-40CB-8996-7EC3296061B1}"/>
              </a:ext>
            </a:extLst>
          </p:cNvPr>
          <p:cNvSpPr>
            <a:spLocks xmlns:a="http://schemas.openxmlformats.org/drawingml/2006/main" noGrp="1"/>
          </p:cNvSpPr>
          <p:nvPr/>
        </p:nvSpPr>
        <p:spPr>
          <a:xfrm xmlns:a="http://schemas.openxmlformats.org/drawingml/2006/main">
            <a:off x="5162550" y="558165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NO SILENT RETRY</a:t>
            </a:r>
          </a:p>
        </p:txBody>
      </p:sp>
      <p:sp>
        <p:nvSpPr>
          <p:cNvPr id="23" name="">
            <a:extLst xmlns:a="http://schemas.openxmlformats.org/drawingml/2006/main">
              <a:ext uri="{FF2B5EF4-FFF2-40B4-BE49-F238E27FC236}">
                <a16:creationId xmlns:a16="http://schemas.microsoft.com/office/drawing/2014/main" id="{3C77F10C-31B5-4A57-8BC8-1A53737603DD}"/>
              </a:ext>
            </a:extLst>
          </p:cNvPr>
          <p:cNvSpPr>
            <a:spLocks xmlns:a="http://schemas.openxmlformats.org/drawingml/2006/main" noGrp="1"/>
          </p:cNvSpPr>
          <p:nvPr/>
        </p:nvSpPr>
        <p:spPr>
          <a:xfrm xmlns:a="http://schemas.openxmlformats.org/drawingml/2006/main">
            <a:off x="7143750" y="5524500"/>
            <a:ext cx="161925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4" name="">
            <a:extLst xmlns:a="http://schemas.openxmlformats.org/drawingml/2006/main">
              <a:ext uri="{FF2B5EF4-FFF2-40B4-BE49-F238E27FC236}">
                <a16:creationId xmlns:a16="http://schemas.microsoft.com/office/drawing/2014/main" id="{3FB47476-CD0F-4A06-B8E0-06AC434EDC78}"/>
              </a:ext>
            </a:extLst>
          </p:cNvPr>
          <p:cNvSpPr>
            <a:spLocks xmlns:a="http://schemas.openxmlformats.org/drawingml/2006/main" noGrp="1"/>
          </p:cNvSpPr>
          <p:nvPr/>
        </p:nvSpPr>
        <p:spPr>
          <a:xfrm xmlns:a="http://schemas.openxmlformats.org/drawingml/2006/main">
            <a:off x="7143750" y="5581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CAP ENFORCED</a:t>
            </a:r>
          </a:p>
        </p:txBody>
      </p:sp>
      <p:sp>
        <p:nvSpPr>
          <p:cNvPr id="25" name="">
            <a:extLst xmlns:a="http://schemas.openxmlformats.org/drawingml/2006/main">
              <a:ext uri="{FF2B5EF4-FFF2-40B4-BE49-F238E27FC236}">
                <a16:creationId xmlns:a16="http://schemas.microsoft.com/office/drawing/2014/main" id="{7AF4EA3D-AA18-4CB9-A5F7-706D1640B4DC}"/>
              </a:ext>
            </a:extLst>
          </p:cNvPr>
          <p:cNvSpPr>
            <a:spLocks xmlns:a="http://schemas.openxmlformats.org/drawingml/2006/main" noGrp="1"/>
          </p:cNvSpPr>
          <p:nvPr/>
        </p:nvSpPr>
        <p:spPr>
          <a:xfrm xmlns:a="http://schemas.openxmlformats.org/drawingml/2006/main">
            <a:off x="8953500" y="5524500"/>
            <a:ext cx="146685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6" name="">
            <a:extLst xmlns:a="http://schemas.openxmlformats.org/drawingml/2006/main">
              <a:ext uri="{FF2B5EF4-FFF2-40B4-BE49-F238E27FC236}">
                <a16:creationId xmlns:a16="http://schemas.microsoft.com/office/drawing/2014/main" id="{64CD5B2A-0FE4-4AAD-BB98-B499C6CE0B85}"/>
              </a:ext>
            </a:extLst>
          </p:cNvPr>
          <p:cNvSpPr>
            <a:spLocks xmlns:a="http://schemas.openxmlformats.org/drawingml/2006/main" noGrp="1"/>
          </p:cNvSpPr>
          <p:nvPr/>
        </p:nvSpPr>
        <p:spPr>
          <a:xfrm xmlns:a="http://schemas.openxmlformats.org/drawingml/2006/main">
            <a:off x="8953500" y="55816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ONE ATTEMPT</a:t>
            </a:r>
          </a:p>
        </p:txBody>
      </p:sp>
      <p:sp>
        <p:nvSpPr>
          <p:cNvPr id="27" name="">
            <a:extLst xmlns:a="http://schemas.openxmlformats.org/drawingml/2006/main">
              <a:ext uri="{FF2B5EF4-FFF2-40B4-BE49-F238E27FC236}">
                <a16:creationId xmlns:a16="http://schemas.microsoft.com/office/drawing/2014/main" id="{C6C875B9-2F77-4246-8D8C-E4069D182024}"/>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28" name="">
            <a:extLst xmlns:a="http://schemas.openxmlformats.org/drawingml/2006/main">
              <a:ext uri="{FF2B5EF4-FFF2-40B4-BE49-F238E27FC236}">
                <a16:creationId xmlns:a16="http://schemas.microsoft.com/office/drawing/2014/main" id="{BE7CF0C4-FCDC-487D-972F-45F05239FB2D}"/>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5862641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F86A52-6D93-4EFE-9E2A-AD3202F0D3F6}"/>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VIDEO</a:t>
            </a:r>
          </a:p>
        </p:txBody>
      </p:sp>
      <p:sp>
        <p:nvSpPr>
          <p:cNvPr id="2" name="">
            <a:extLst xmlns:a="http://schemas.openxmlformats.org/drawingml/2006/main">
              <a:ext uri="{FF2B5EF4-FFF2-40B4-BE49-F238E27FC236}">
                <a16:creationId xmlns:a16="http://schemas.microsoft.com/office/drawing/2014/main" id="{F5BFC8C4-5492-4B4B-B8F9-E0335DA04AEB}"/>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Live demo: intent → checkout → 3DS → delivery</a:t>
            </a:r>
          </a:p>
        </p:txBody>
      </p:sp>
      <p:sp>
        <p:nvSpPr>
          <p:cNvPr id="3" name="">
            <a:extLst xmlns:a="http://schemas.openxmlformats.org/drawingml/2006/main">
              <a:ext uri="{FF2B5EF4-FFF2-40B4-BE49-F238E27FC236}">
                <a16:creationId xmlns:a16="http://schemas.microsoft.com/office/drawing/2014/main" id="{F02DBDEB-095E-4FEC-835D-88D94449E25E}"/>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C545208-6ADB-4BAF-9FC3-2E7660486AFF}"/>
              </a:ext>
            </a:extLst>
          </p:cNvPr>
          <p:cNvSpPr>
            <a:spLocks xmlns:a="http://schemas.openxmlformats.org/drawingml/2006/main" noGrp="1"/>
          </p:cNvSpPr>
          <p:nvPr/>
        </p:nvSpPr>
        <p:spPr>
          <a:xfrm xmlns:a="http://schemas.openxmlformats.org/drawingml/2006/main">
            <a:off x="1771650" y="1514475"/>
            <a:ext cx="8648700" cy="48768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9DDE1"/>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83f84ea901462e"/>
          <a:srcRect xmlns:a="http://schemas.openxmlformats.org/drawingml/2006/main" l="37" t="0" r="37" b="0"/>
          <a:stretch xmlns:a="http://schemas.openxmlformats.org/drawingml/2006/main">
            <a:fillRect l="0" t="0" r="0" b="0"/>
          </a:stretch>
        </p:blipFill>
        <p:spPr>
          <a:xfrm xmlns:a="http://schemas.openxmlformats.org/drawingml/2006/main">
            <a:off x="1781175" y="1524000"/>
            <a:ext cx="8629650" cy="4857750"/>
          </a:xfrm>
          <a:prstGeom xmlns:a="http://schemas.openxmlformats.org/drawingml/2006/main" prst="roundRect">
            <a:avLst>
              <a:gd name="adj" fmla="val 2941"/>
            </a:avLst>
          </a:prstGeom>
        </p:spPr>
      </p:pic>
      <p:sp>
        <p:nvSpPr>
          <p:cNvPr id="6" name="">
            <a:extLst xmlns:a="http://schemas.openxmlformats.org/drawingml/2006/main">
              <a:ext uri="{FF2B5EF4-FFF2-40B4-BE49-F238E27FC236}">
                <a16:creationId xmlns:a16="http://schemas.microsoft.com/office/drawing/2014/main" id="{F39545CC-3EBC-4D8C-ADE6-851DD1BA8018}"/>
              </a:ext>
            </a:extLst>
          </p:cNvPr>
          <p:cNvSpPr>
            <a:spLocks xmlns:a="http://schemas.openxmlformats.org/drawingml/2006/main" noGrp="1"/>
          </p:cNvSpPr>
          <p:nvPr/>
        </p:nvSpPr>
        <p:spPr>
          <a:xfrm xmlns:a="http://schemas.openxmlformats.org/drawingml/2006/main">
            <a:off x="5514975" y="3257550"/>
            <a:ext cx="1162050" cy="11620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txBody>
          <a:bodyPr xmlns:a="http://schemas.openxmlformats.org/drawingml/2006/main" lIns="57150" tIns="0" rIns="0" bIns="0" anchor="ctr"/>
          <a:lstStyle xmlns:a="http://schemas.openxmlformats.org/drawingml/2006/main"/>
          <a:p xmlns:a="http://schemas.openxmlformats.org/drawingml/2006/main">
            <a:pPr algn="ct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hlinkClick xmlns:r="http://schemas.openxmlformats.org/officeDocument/2006/relationships" r:id="Rb7859927865442c3"/>
              </a:rPr>
              <a:t>▶</a:t>
            </a:r>
          </a:p>
        </p:txBody>
      </p:sp>
      <p:sp>
        <p:nvSpPr>
          <p:cNvPr id="7" name="">
            <a:extLst xmlns:a="http://schemas.openxmlformats.org/drawingml/2006/main">
              <a:ext uri="{FF2B5EF4-FFF2-40B4-BE49-F238E27FC236}">
                <a16:creationId xmlns:a16="http://schemas.microsoft.com/office/drawing/2014/main" id="{050A0547-3838-4FA2-89D0-5B4BBBC45DB5}"/>
              </a:ext>
            </a:extLst>
          </p:cNvPr>
          <p:cNvSpPr>
            <a:spLocks xmlns:a="http://schemas.openxmlformats.org/drawingml/2006/main" noGrp="1"/>
          </p:cNvSpPr>
          <p:nvPr/>
        </p:nvSpPr>
        <p:spPr>
          <a:xfrm xmlns:a="http://schemas.openxmlformats.org/drawingml/2006/main">
            <a:off x="4876800" y="4629150"/>
            <a:ext cx="2438400" cy="400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hlinkClick xmlns:r="http://schemas.openxmlformats.org/officeDocument/2006/relationships" r:id="R18c6be9277174cba"/>
              </a:rPr>
              <a:t>PLAY 1:44 DEMO</a:t>
            </a:r>
          </a:p>
        </p:txBody>
      </p:sp>
      <p:sp>
        <p:nvSpPr>
          <p:cNvPr id="8" name="">
            <a:extLst xmlns:a="http://schemas.openxmlformats.org/drawingml/2006/main">
              <a:ext uri="{FF2B5EF4-FFF2-40B4-BE49-F238E27FC236}">
                <a16:creationId xmlns:a16="http://schemas.microsoft.com/office/drawing/2014/main" id="{36E72DAA-74B1-4B9E-B2AA-942AEFAEC5F5}"/>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9" name="">
            <a:extLst xmlns:a="http://schemas.openxmlformats.org/drawingml/2006/main">
              <a:ext uri="{FF2B5EF4-FFF2-40B4-BE49-F238E27FC236}">
                <a16:creationId xmlns:a16="http://schemas.microsoft.com/office/drawing/2014/main" id="{7639D236-9228-4830-928C-0B63841BE8B1}"/>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CLICK PLAY • LOCAL VIDEO COMPANION FILE</a:t>
            </a:r>
          </a:p>
        </p:txBody>
      </p:sp>
    </p:spTree>
    <p:extLst>
      <p:ext uri="{BB962C8B-B14F-4D97-AF65-F5344CB8AC3E}">
        <p14:creationId xmlns:p14="http://schemas.microsoft.com/office/powerpoint/2010/main" val="12921025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CBFD32-3906-4679-B406-55D0B42AE9A3}"/>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CHECKOUT EVIDENCE</a:t>
            </a:r>
          </a:p>
        </p:txBody>
      </p:sp>
      <p:sp>
        <p:nvSpPr>
          <p:cNvPr id="2" name="">
            <a:extLst xmlns:a="http://schemas.openxmlformats.org/drawingml/2006/main">
              <a:ext uri="{FF2B5EF4-FFF2-40B4-BE49-F238E27FC236}">
                <a16:creationId xmlns:a16="http://schemas.microsoft.com/office/drawing/2014/main" id="{0F3E9D93-FEF4-4A02-87FF-8B6B0A2AE83E}"/>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agent built a real basket under a hard cap</a:t>
            </a:r>
          </a:p>
        </p:txBody>
      </p:sp>
      <p:sp>
        <p:nvSpPr>
          <p:cNvPr id="3" name="">
            <a:extLst xmlns:a="http://schemas.openxmlformats.org/drawingml/2006/main">
              <a:ext uri="{FF2B5EF4-FFF2-40B4-BE49-F238E27FC236}">
                <a16:creationId xmlns:a16="http://schemas.microsoft.com/office/drawing/2014/main" id="{3A2B04FE-FC64-47CE-AE8E-54C84D498209}"/>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51413DB-E943-4693-949A-4DB20291FD2A}"/>
              </a:ext>
            </a:extLst>
          </p:cNvPr>
          <p:cNvSpPr>
            <a:spLocks xmlns:a="http://schemas.openxmlformats.org/drawingml/2006/main" noGrp="1"/>
          </p:cNvSpPr>
          <p:nvPr/>
        </p:nvSpPr>
        <p:spPr>
          <a:xfrm xmlns:a="http://schemas.openxmlformats.org/drawingml/2006/main">
            <a:off x="685800" y="1809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a:solidFill>
                  <a:srgbClr val="111111"/>
                </a:solidFill>
                <a:latin typeface="Helvetica Neue"/>
                <a:ea typeface="Helvetica Neue"/>
                <a:cs typeface="Helvetica Neue"/>
              </a:defRPr>
            </a:pPr>
            <a:r>
              <a:rPr sz="4050" b="1">
                <a:solidFill>
                  <a:srgbClr val="111111"/>
                </a:solidFill>
                <a:latin typeface="Helvetica Neue"/>
                <a:ea typeface="Helvetica Neue"/>
                <a:cs typeface="Helvetica Neue"/>
              </a:rPr>
              <a:t>3 × 1 L</a:t>
            </a:r>
          </a:p>
        </p:txBody>
      </p:sp>
      <p:sp>
        <p:nvSpPr>
          <p:cNvPr id="5" name="">
            <a:extLst xmlns:a="http://schemas.openxmlformats.org/drawingml/2006/main">
              <a:ext uri="{FF2B5EF4-FFF2-40B4-BE49-F238E27FC236}">
                <a16:creationId xmlns:a16="http://schemas.microsoft.com/office/drawing/2014/main" id="{60F90CAC-20B9-42C0-989D-6E59DC2EEC6B}"/>
              </a:ext>
            </a:extLst>
          </p:cNvPr>
          <p:cNvSpPr>
            <a:spLocks xmlns:a="http://schemas.openxmlformats.org/drawingml/2006/main" noGrp="1"/>
          </p:cNvSpPr>
          <p:nvPr/>
        </p:nvSpPr>
        <p:spPr>
          <a:xfrm xmlns:a="http://schemas.openxmlformats.org/drawingml/2006/main">
            <a:off x="685800" y="2476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juices selected</a:t>
            </a:r>
          </a:p>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for the classroom</a:t>
            </a:r>
          </a:p>
        </p:txBody>
      </p:sp>
      <p:sp>
        <p:nvSpPr>
          <p:cNvPr id="6" name="">
            <a:extLst xmlns:a="http://schemas.openxmlformats.org/drawingml/2006/main">
              <a:ext uri="{FF2B5EF4-FFF2-40B4-BE49-F238E27FC236}">
                <a16:creationId xmlns:a16="http://schemas.microsoft.com/office/drawing/2014/main" id="{A0D13938-0EDF-46E7-871D-AEFBFFFA4FEC}"/>
              </a:ext>
            </a:extLst>
          </p:cNvPr>
          <p:cNvSpPr>
            <a:spLocks xmlns:a="http://schemas.openxmlformats.org/drawingml/2006/main" noGrp="1"/>
          </p:cNvSpPr>
          <p:nvPr/>
        </p:nvSpPr>
        <p:spPr>
          <a:xfrm xmlns:a="http://schemas.openxmlformats.org/drawingml/2006/main">
            <a:off x="685800" y="3333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25.24 PLN</a:t>
            </a:r>
          </a:p>
        </p:txBody>
      </p:sp>
      <p:sp>
        <p:nvSpPr>
          <p:cNvPr id="7" name="">
            <a:extLst xmlns:a="http://schemas.openxmlformats.org/drawingml/2006/main">
              <a:ext uri="{FF2B5EF4-FFF2-40B4-BE49-F238E27FC236}">
                <a16:creationId xmlns:a16="http://schemas.microsoft.com/office/drawing/2014/main" id="{5F363C5F-36BE-4555-BAA5-97DBA2C3721D}"/>
              </a:ext>
            </a:extLst>
          </p:cNvPr>
          <p:cNvSpPr>
            <a:spLocks xmlns:a="http://schemas.openxmlformats.org/drawingml/2006/main" noGrp="1"/>
          </p:cNvSpPr>
          <p:nvPr/>
        </p:nvSpPr>
        <p:spPr>
          <a:xfrm xmlns:a="http://schemas.openxmlformats.org/drawingml/2006/main">
            <a:off x="685800" y="4000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approved landed quote</a:t>
            </a:r>
          </a:p>
        </p:txBody>
      </p:sp>
      <p:sp>
        <p:nvSpPr>
          <p:cNvPr id="8" name="">
            <a:extLst xmlns:a="http://schemas.openxmlformats.org/drawingml/2006/main">
              <a:ext uri="{FF2B5EF4-FFF2-40B4-BE49-F238E27FC236}">
                <a16:creationId xmlns:a16="http://schemas.microsoft.com/office/drawing/2014/main" id="{5162DDA3-14C8-43F0-8A57-32930B2F9100}"/>
              </a:ext>
            </a:extLst>
          </p:cNvPr>
          <p:cNvSpPr>
            <a:spLocks xmlns:a="http://schemas.openxmlformats.org/drawingml/2006/main" noGrp="1"/>
          </p:cNvSpPr>
          <p:nvPr/>
        </p:nvSpPr>
        <p:spPr>
          <a:xfrm xmlns:a="http://schemas.openxmlformats.org/drawingml/2006/main">
            <a:off x="685800" y="4857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26.00 PLN</a:t>
            </a:r>
          </a:p>
        </p:txBody>
      </p:sp>
      <p:sp>
        <p:nvSpPr>
          <p:cNvPr id="9" name="">
            <a:extLst xmlns:a="http://schemas.openxmlformats.org/drawingml/2006/main">
              <a:ext uri="{FF2B5EF4-FFF2-40B4-BE49-F238E27FC236}">
                <a16:creationId xmlns:a16="http://schemas.microsoft.com/office/drawing/2014/main" id="{FBB93629-A676-4D85-B744-EC3E89E9A3E3}"/>
              </a:ext>
            </a:extLst>
          </p:cNvPr>
          <p:cNvSpPr>
            <a:spLocks xmlns:a="http://schemas.openxmlformats.org/drawingml/2006/main" noGrp="1"/>
          </p:cNvSpPr>
          <p:nvPr/>
        </p:nvSpPr>
        <p:spPr>
          <a:xfrm xmlns:a="http://schemas.openxmlformats.org/drawingml/2006/main">
            <a:off x="685800" y="5524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maximum allowed</a:t>
            </a:r>
          </a:p>
        </p:txBody>
      </p:sp>
      <p:sp>
        <p:nvSpPr>
          <p:cNvPr id="10" name="">
            <a:extLst xmlns:a="http://schemas.openxmlformats.org/drawingml/2006/main">
              <a:ext uri="{FF2B5EF4-FFF2-40B4-BE49-F238E27FC236}">
                <a16:creationId xmlns:a16="http://schemas.microsoft.com/office/drawing/2014/main" id="{B06ECC91-6896-4A29-A3E9-8CB3D3345550}"/>
              </a:ext>
            </a:extLst>
          </p:cNvPr>
          <p:cNvSpPr>
            <a:spLocks xmlns:a="http://schemas.openxmlformats.org/drawingml/2006/main" noGrp="1"/>
          </p:cNvSpPr>
          <p:nvPr/>
        </p:nvSpPr>
        <p:spPr>
          <a:xfrm xmlns:a="http://schemas.openxmlformats.org/drawingml/2006/main">
            <a:off x="4086225" y="1666875"/>
            <a:ext cx="7429500" cy="4248150"/>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9DDE1"/>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75b09183d1e4f96"/>
          <a:stretch xmlns:a="http://schemas.openxmlformats.org/drawingml/2006/main"/>
        </p:blipFill>
        <p:spPr>
          <a:xfrm xmlns:a="http://schemas.openxmlformats.org/drawingml/2006/main">
            <a:off x="4095750" y="1811924"/>
            <a:ext cx="7410450" cy="3958052"/>
          </a:xfrm>
          <a:prstGeom xmlns:a="http://schemas.openxmlformats.org/drawingml/2006/main" prst="roundRect">
            <a:avLst>
              <a:gd name="adj" fmla="val 3378"/>
            </a:avLst>
          </a:prstGeom>
        </p:spPr>
      </p:pic>
      <p:sp>
        <p:nvSpPr>
          <p:cNvPr id="12" name="">
            <a:extLst xmlns:a="http://schemas.openxmlformats.org/drawingml/2006/main">
              <a:ext uri="{FF2B5EF4-FFF2-40B4-BE49-F238E27FC236}">
                <a16:creationId xmlns:a16="http://schemas.microsoft.com/office/drawing/2014/main" id="{ADB3B66A-F2E3-43B2-9983-E67613277E30}"/>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3" name="">
            <a:extLst xmlns:a="http://schemas.openxmlformats.org/drawingml/2006/main">
              <a:ext uri="{FF2B5EF4-FFF2-40B4-BE49-F238E27FC236}">
                <a16:creationId xmlns:a16="http://schemas.microsoft.com/office/drawing/2014/main" id="{7218BF42-0C2A-4224-8146-6462AE9E5350}"/>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837009668"/>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59A8063-07C4-41A0-B4F4-C7C7AB62ED23}"/>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6DCBF4"/>
                </a:solidFill>
                <a:latin typeface="Helvetica Neue"/>
                <a:ea typeface="Helvetica Neue"/>
                <a:cs typeface="Helvetica Neue"/>
              </a:defRPr>
            </a:pPr>
            <a:r>
              <a:rPr sz="975" b="1">
                <a:solidFill>
                  <a:srgbClr val="6DCBF4"/>
                </a:solidFill>
                <a:latin typeface="Helvetica Neue"/>
                <a:ea typeface="Helvetica Neue"/>
                <a:cs typeface="Helvetica Neue"/>
              </a:rPr>
              <a:t>PAYMENT AUTHENTICATION</a:t>
            </a:r>
          </a:p>
        </p:txBody>
      </p:sp>
      <p:sp>
        <p:nvSpPr>
          <p:cNvPr id="2" name="">
            <a:extLst xmlns:a="http://schemas.openxmlformats.org/drawingml/2006/main">
              <a:ext uri="{FF2B5EF4-FFF2-40B4-BE49-F238E27FC236}">
                <a16:creationId xmlns:a16="http://schemas.microsoft.com/office/drawing/2014/main" id="{10062B93-39AA-4FCD-A4D8-C8E8F2C735AE}"/>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Email 3DS completed without exposing the OTP</a:t>
            </a:r>
          </a:p>
        </p:txBody>
      </p:sp>
      <p:sp>
        <p:nvSpPr>
          <p:cNvPr id="3" name="">
            <a:extLst xmlns:a="http://schemas.openxmlformats.org/drawingml/2006/main">
              <a:ext uri="{FF2B5EF4-FFF2-40B4-BE49-F238E27FC236}">
                <a16:creationId xmlns:a16="http://schemas.microsoft.com/office/drawing/2014/main" id="{40178E9A-E19F-45E9-8D19-CA0F9D994A88}"/>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AAB4BE"/>
                </a:solidFill>
                <a:latin typeface="Helvetica Neue"/>
                <a:ea typeface="Helvetica Neue"/>
                <a:cs typeface="Helvetica Neue"/>
              </a:defRPr>
            </a:pPr>
            <a:r>
              <a:rPr sz="975" b="1">
                <a:solidFill>
                  <a:srgbClr val="AAB4BE"/>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13B36B8D-4BDC-4D0E-9753-3E28C397A7A2}"/>
              </a:ext>
            </a:extLst>
          </p:cNvPr>
          <p:cNvSpPr>
            <a:spLocks xmlns:a="http://schemas.openxmlformats.org/drawingml/2006/main" noGrp="1"/>
          </p:cNvSpPr>
          <p:nvPr/>
        </p:nvSpPr>
        <p:spPr>
          <a:xfrm xmlns:a="http://schemas.openxmlformats.org/drawingml/2006/main">
            <a:off x="3143250" y="3429000"/>
            <a:ext cx="1238250" cy="0"/>
          </a:xfrm>
          <a:prstGeom xmlns:a="http://schemas.openxmlformats.org/drawingml/2006/main" prst="line">
            <a:avLst/>
          </a:prstGeom>
          <a:noFill xmlns:a="http://schemas.openxmlformats.org/drawingml/2006/main"/>
          <a:ln xmlns:a="http://schemas.openxmlformats.org/drawingml/2006/main" w="28575">
            <a:solidFill>
              <a:srgbClr val="52616D"/>
            </a:solidFill>
            <a:prstDash val="solid"/>
          </a:ln>
        </p:spPr>
      </p:sp>
      <p:sp>
        <p:nvSpPr>
          <p:cNvPr id="5" name="">
            <a:extLst xmlns:a="http://schemas.openxmlformats.org/drawingml/2006/main">
              <a:ext uri="{FF2B5EF4-FFF2-40B4-BE49-F238E27FC236}">
                <a16:creationId xmlns:a16="http://schemas.microsoft.com/office/drawing/2014/main" id="{B5576A28-0953-4430-B654-8E1C599C1C17}"/>
              </a:ext>
            </a:extLst>
          </p:cNvPr>
          <p:cNvSpPr>
            <a:spLocks xmlns:a="http://schemas.openxmlformats.org/drawingml/2006/main" noGrp="1"/>
          </p:cNvSpPr>
          <p:nvPr/>
        </p:nvSpPr>
        <p:spPr>
          <a:xfrm xmlns:a="http://schemas.openxmlformats.org/drawingml/2006/main">
            <a:off x="7810500" y="3429000"/>
            <a:ext cx="1238250" cy="0"/>
          </a:xfrm>
          <a:prstGeom xmlns:a="http://schemas.openxmlformats.org/drawingml/2006/main" prst="line">
            <a:avLst/>
          </a:prstGeom>
          <a:noFill xmlns:a="http://schemas.openxmlformats.org/drawingml/2006/main"/>
          <a:ln xmlns:a="http://schemas.openxmlformats.org/drawingml/2006/main" w="28575">
            <a:solidFill>
              <a:srgbClr val="52616D"/>
            </a:solidFill>
            <a:prstDash val="solid"/>
          </a:ln>
        </p:spPr>
      </p:sp>
      <p:sp>
        <p:nvSpPr>
          <p:cNvPr id="6" name="">
            <a:extLst xmlns:a="http://schemas.openxmlformats.org/drawingml/2006/main">
              <a:ext uri="{FF2B5EF4-FFF2-40B4-BE49-F238E27FC236}">
                <a16:creationId xmlns:a16="http://schemas.microsoft.com/office/drawing/2014/main" id="{4C4A8F23-FDB4-4C22-936F-10BECB2FF4AF}"/>
              </a:ext>
            </a:extLst>
          </p:cNvPr>
          <p:cNvSpPr>
            <a:spLocks xmlns:a="http://schemas.openxmlformats.org/drawingml/2006/main" noGrp="1"/>
          </p:cNvSpPr>
          <p:nvPr/>
        </p:nvSpPr>
        <p:spPr>
          <a:xfrm xmlns:a="http://schemas.openxmlformats.org/drawingml/2006/main">
            <a:off x="685800" y="2133600"/>
            <a:ext cx="3143250" cy="2705100"/>
          </a:xfrm>
          <a:prstGeom xmlns:a="http://schemas.openxmlformats.org/drawingml/2006/main" prst="roundRect">
            <a:avLst>
              <a:gd name="adj" fmla="val 7746"/>
            </a:avLst>
          </a:prstGeom>
          <a:solidFill xmlns:a="http://schemas.openxmlformats.org/drawingml/2006/main">
            <a:srgbClr val="1E252B"/>
          </a:solidFill>
          <a:ln xmlns:a="http://schemas.openxmlformats.org/drawingml/2006/main" w="9525">
            <a:solidFill>
              <a:srgbClr val="3B464F"/>
            </a:solidFill>
            <a:prstDash val="solid"/>
          </a:ln>
        </p:spPr>
      </p:sp>
      <p:sp>
        <p:nvSpPr>
          <p:cNvPr id="7" name="">
            <a:extLst xmlns:a="http://schemas.openxmlformats.org/drawingml/2006/main">
              <a:ext uri="{FF2B5EF4-FFF2-40B4-BE49-F238E27FC236}">
                <a16:creationId xmlns:a16="http://schemas.microsoft.com/office/drawing/2014/main" id="{3DEE993B-7FD6-492B-96F4-3ACF06D618D8}"/>
              </a:ext>
            </a:extLst>
          </p:cNvPr>
          <p:cNvSpPr>
            <a:spLocks xmlns:a="http://schemas.openxmlformats.org/drawingml/2006/main" noGrp="1"/>
          </p:cNvSpPr>
          <p:nvPr/>
        </p:nvSpPr>
        <p:spPr>
          <a:xfrm xmlns:a="http://schemas.openxmlformats.org/drawingml/2006/main">
            <a:off x="914400" y="2362200"/>
            <a:ext cx="419100" cy="3048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8" name="">
            <a:extLst xmlns:a="http://schemas.openxmlformats.org/drawingml/2006/main">
              <a:ext uri="{FF2B5EF4-FFF2-40B4-BE49-F238E27FC236}">
                <a16:creationId xmlns:a16="http://schemas.microsoft.com/office/drawing/2014/main" id="{1860C37C-FB89-426E-9577-2E8677C6AE71}"/>
              </a:ext>
            </a:extLst>
          </p:cNvPr>
          <p:cNvSpPr>
            <a:spLocks xmlns:a="http://schemas.openxmlformats.org/drawingml/2006/main" noGrp="1"/>
          </p:cNvSpPr>
          <p:nvPr/>
        </p:nvSpPr>
        <p:spPr>
          <a:xfrm xmlns:a="http://schemas.openxmlformats.org/drawingml/2006/main">
            <a:off x="91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C4C7602-05A6-42A7-A899-9D5631C30490}"/>
              </a:ext>
            </a:extLst>
          </p:cNvPr>
          <p:cNvSpPr>
            <a:spLocks xmlns:a="http://schemas.openxmlformats.org/drawingml/2006/main" noGrp="1"/>
          </p:cNvSpPr>
          <p:nvPr/>
        </p:nvSpPr>
        <p:spPr>
          <a:xfrm xmlns:a="http://schemas.openxmlformats.org/drawingml/2006/main">
            <a:off x="91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READ</a:t>
            </a:r>
          </a:p>
        </p:txBody>
      </p:sp>
      <p:sp>
        <p:nvSpPr>
          <p:cNvPr id="10" name="">
            <a:extLst xmlns:a="http://schemas.openxmlformats.org/drawingml/2006/main">
              <a:ext uri="{FF2B5EF4-FFF2-40B4-BE49-F238E27FC236}">
                <a16:creationId xmlns:a16="http://schemas.microsoft.com/office/drawing/2014/main" id="{730B7F69-BCA8-4BCE-B5F2-FC88CD8A2EF0}"/>
              </a:ext>
            </a:extLst>
          </p:cNvPr>
          <p:cNvSpPr>
            <a:spLocks xmlns:a="http://schemas.openxmlformats.org/drawingml/2006/main" noGrp="1"/>
          </p:cNvSpPr>
          <p:nvPr/>
        </p:nvSpPr>
        <p:spPr>
          <a:xfrm xmlns:a="http://schemas.openxmlformats.org/drawingml/2006/main">
            <a:off x="91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AgentMail detected a fresh</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Apata challenge.</a:t>
            </a:r>
          </a:p>
        </p:txBody>
      </p:sp>
      <p:sp>
        <p:nvSpPr>
          <p:cNvPr id="11" name="">
            <a:extLst xmlns:a="http://schemas.openxmlformats.org/drawingml/2006/main">
              <a:ext uri="{FF2B5EF4-FFF2-40B4-BE49-F238E27FC236}">
                <a16:creationId xmlns:a16="http://schemas.microsoft.com/office/drawing/2014/main" id="{6ECC9AA9-F4F6-4726-87A4-44A894ECA4B2}"/>
              </a:ext>
            </a:extLst>
          </p:cNvPr>
          <p:cNvSpPr>
            <a:spLocks xmlns:a="http://schemas.openxmlformats.org/drawingml/2006/main" noGrp="1"/>
          </p:cNvSpPr>
          <p:nvPr/>
        </p:nvSpPr>
        <p:spPr>
          <a:xfrm xmlns:a="http://schemas.openxmlformats.org/drawingml/2006/main">
            <a:off x="4495800" y="2133600"/>
            <a:ext cx="3143250" cy="2705100"/>
          </a:xfrm>
          <a:prstGeom xmlns:a="http://schemas.openxmlformats.org/drawingml/2006/main" prst="roundRect">
            <a:avLst>
              <a:gd name="adj" fmla="val 7746"/>
            </a:avLst>
          </a:prstGeom>
          <a:solidFill xmlns:a="http://schemas.openxmlformats.org/drawingml/2006/main">
            <a:srgbClr val="173549"/>
          </a:solidFill>
          <a:ln xmlns:a="http://schemas.openxmlformats.org/drawingml/2006/main" w="9525">
            <a:solidFill>
              <a:srgbClr val="6DCBF4"/>
            </a:solidFill>
            <a:prstDash val="solid"/>
          </a:ln>
        </p:spPr>
      </p:sp>
      <p:sp>
        <p:nvSpPr>
          <p:cNvPr id="12" name="">
            <a:extLst xmlns:a="http://schemas.openxmlformats.org/drawingml/2006/main">
              <a:ext uri="{FF2B5EF4-FFF2-40B4-BE49-F238E27FC236}">
                <a16:creationId xmlns:a16="http://schemas.microsoft.com/office/drawing/2014/main" id="{4072AAC5-5C37-4E1C-83AB-2F951BC278FF}"/>
              </a:ext>
            </a:extLst>
          </p:cNvPr>
          <p:cNvSpPr>
            <a:spLocks xmlns:a="http://schemas.openxmlformats.org/drawingml/2006/main" noGrp="1"/>
          </p:cNvSpPr>
          <p:nvPr/>
        </p:nvSpPr>
        <p:spPr>
          <a:xfrm xmlns:a="http://schemas.openxmlformats.org/drawingml/2006/main">
            <a:off x="4724400" y="2362200"/>
            <a:ext cx="419100" cy="3048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756BD943-D33C-44E9-881D-03349376631C}"/>
              </a:ext>
            </a:extLst>
          </p:cNvPr>
          <p:cNvSpPr>
            <a:spLocks xmlns:a="http://schemas.openxmlformats.org/drawingml/2006/main" noGrp="1"/>
          </p:cNvSpPr>
          <p:nvPr/>
        </p:nvSpPr>
        <p:spPr>
          <a:xfrm xmlns:a="http://schemas.openxmlformats.org/drawingml/2006/main">
            <a:off x="472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D91362BE-5B26-448E-B2F1-2765F5E14122}"/>
              </a:ext>
            </a:extLst>
          </p:cNvPr>
          <p:cNvSpPr>
            <a:spLocks xmlns:a="http://schemas.openxmlformats.org/drawingml/2006/main" noGrp="1"/>
          </p:cNvSpPr>
          <p:nvPr/>
        </p:nvSpPr>
        <p:spPr>
          <a:xfrm xmlns:a="http://schemas.openxmlformats.org/drawingml/2006/main">
            <a:off x="472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VALIDATE</a:t>
            </a:r>
          </a:p>
        </p:txBody>
      </p:sp>
      <p:sp>
        <p:nvSpPr>
          <p:cNvPr id="15" name="">
            <a:extLst xmlns:a="http://schemas.openxmlformats.org/drawingml/2006/main">
              <a:ext uri="{FF2B5EF4-FFF2-40B4-BE49-F238E27FC236}">
                <a16:creationId xmlns:a16="http://schemas.microsoft.com/office/drawing/2014/main" id="{9052D2E5-879F-4012-9953-5C9C71B4A719}"/>
              </a:ext>
            </a:extLst>
          </p:cNvPr>
          <p:cNvSpPr>
            <a:spLocks xmlns:a="http://schemas.openxmlformats.org/drawingml/2006/main" noGrp="1"/>
          </p:cNvSpPr>
          <p:nvPr/>
        </p:nvSpPr>
        <p:spPr>
          <a:xfrm xmlns:a="http://schemas.openxmlformats.org/drawingml/2006/main">
            <a:off x="472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Merchant = Glovo</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Amount = 25.24 PLN</a:t>
            </a:r>
          </a:p>
        </p:txBody>
      </p:sp>
      <p:sp>
        <p:nvSpPr>
          <p:cNvPr id="16" name="">
            <a:extLst xmlns:a="http://schemas.openxmlformats.org/drawingml/2006/main">
              <a:ext uri="{FF2B5EF4-FFF2-40B4-BE49-F238E27FC236}">
                <a16:creationId xmlns:a16="http://schemas.microsoft.com/office/drawing/2014/main" id="{6B9C445B-C319-4FB2-A026-3B266CE0F545}"/>
              </a:ext>
            </a:extLst>
          </p:cNvPr>
          <p:cNvSpPr>
            <a:spLocks xmlns:a="http://schemas.openxmlformats.org/drawingml/2006/main" noGrp="1"/>
          </p:cNvSpPr>
          <p:nvPr/>
        </p:nvSpPr>
        <p:spPr>
          <a:xfrm xmlns:a="http://schemas.openxmlformats.org/drawingml/2006/main">
            <a:off x="8305800" y="2133600"/>
            <a:ext cx="3143250" cy="2705100"/>
          </a:xfrm>
          <a:prstGeom xmlns:a="http://schemas.openxmlformats.org/drawingml/2006/main" prst="roundRect">
            <a:avLst>
              <a:gd name="adj" fmla="val 7746"/>
            </a:avLst>
          </a:prstGeom>
          <a:solidFill xmlns:a="http://schemas.openxmlformats.org/drawingml/2006/main">
            <a:srgbClr val="1E252B"/>
          </a:solidFill>
          <a:ln xmlns:a="http://schemas.openxmlformats.org/drawingml/2006/main" w="9525">
            <a:solidFill>
              <a:srgbClr val="3B464F"/>
            </a:solidFill>
            <a:prstDash val="solid"/>
          </a:ln>
        </p:spPr>
      </p:sp>
      <p:sp>
        <p:nvSpPr>
          <p:cNvPr id="17" name="">
            <a:extLst xmlns:a="http://schemas.openxmlformats.org/drawingml/2006/main">
              <a:ext uri="{FF2B5EF4-FFF2-40B4-BE49-F238E27FC236}">
                <a16:creationId xmlns:a16="http://schemas.microsoft.com/office/drawing/2014/main" id="{20E7A1B4-E758-4A43-BBAD-1D98B9AF61E4}"/>
              </a:ext>
            </a:extLst>
          </p:cNvPr>
          <p:cNvSpPr>
            <a:spLocks xmlns:a="http://schemas.openxmlformats.org/drawingml/2006/main" noGrp="1"/>
          </p:cNvSpPr>
          <p:nvPr/>
        </p:nvSpPr>
        <p:spPr>
          <a:xfrm xmlns:a="http://schemas.openxmlformats.org/drawingml/2006/main">
            <a:off x="8534400" y="2362200"/>
            <a:ext cx="419100" cy="304800"/>
          </a:xfrm>
          <a:prstGeom xmlns:a="http://schemas.openxmlformats.org/drawingml/2006/main" prst="roundRect">
            <a:avLst>
              <a:gd name="adj" fmla="val 50000"/>
            </a:avLst>
          </a:prstGeom>
          <a:solidFill xmlns:a="http://schemas.openxmlformats.org/drawingml/2006/main">
            <a:srgbClr val="35B88F"/>
          </a:solidFill>
          <a:ln xmlns:a="http://schemas.openxmlformats.org/drawingml/2006/main" w="9525">
            <a:solidFill>
              <a:srgbClr val="35B88F"/>
            </a:solidFill>
            <a:prstDash val="solid"/>
          </a:ln>
        </p:spPr>
      </p:sp>
      <p:sp>
        <p:nvSpPr>
          <p:cNvPr id="18" name="">
            <a:extLst xmlns:a="http://schemas.openxmlformats.org/drawingml/2006/main">
              <a:ext uri="{FF2B5EF4-FFF2-40B4-BE49-F238E27FC236}">
                <a16:creationId xmlns:a16="http://schemas.microsoft.com/office/drawing/2014/main" id="{DE5DE908-8B08-4032-9544-04452C25A0C5}"/>
              </a:ext>
            </a:extLst>
          </p:cNvPr>
          <p:cNvSpPr>
            <a:spLocks xmlns:a="http://schemas.openxmlformats.org/drawingml/2006/main" noGrp="1"/>
          </p:cNvSpPr>
          <p:nvPr/>
        </p:nvSpPr>
        <p:spPr>
          <a:xfrm xmlns:a="http://schemas.openxmlformats.org/drawingml/2006/main">
            <a:off x="853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E7D9C491-4508-40B4-A062-27D9A31D5D62}"/>
              </a:ext>
            </a:extLst>
          </p:cNvPr>
          <p:cNvSpPr>
            <a:spLocks xmlns:a="http://schemas.openxmlformats.org/drawingml/2006/main" noGrp="1"/>
          </p:cNvSpPr>
          <p:nvPr/>
        </p:nvSpPr>
        <p:spPr>
          <a:xfrm xmlns:a="http://schemas.openxmlformats.org/drawingml/2006/main">
            <a:off x="853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SUBMIT ONCE</a:t>
            </a:r>
          </a:p>
        </p:txBody>
      </p:sp>
      <p:sp>
        <p:nvSpPr>
          <p:cNvPr id="20" name="">
            <a:extLst xmlns:a="http://schemas.openxmlformats.org/drawingml/2006/main">
              <a:ext uri="{FF2B5EF4-FFF2-40B4-BE49-F238E27FC236}">
                <a16:creationId xmlns:a16="http://schemas.microsoft.com/office/drawing/2014/main" id="{A82BCEC0-B71D-4D86-801C-ED7D8B3F3F8E}"/>
              </a:ext>
            </a:extLst>
          </p:cNvPr>
          <p:cNvSpPr>
            <a:spLocks xmlns:a="http://schemas.openxmlformats.org/drawingml/2006/main" noGrp="1"/>
          </p:cNvSpPr>
          <p:nvPr/>
        </p:nvSpPr>
        <p:spPr>
          <a:xfrm xmlns:a="http://schemas.openxmlformats.org/drawingml/2006/main">
            <a:off x="853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Six digits entered only</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after explicit approval.</a:t>
            </a:r>
          </a:p>
        </p:txBody>
      </p:sp>
      <p:sp>
        <p:nvSpPr>
          <p:cNvPr id="21" name="">
            <a:extLst xmlns:a="http://schemas.openxmlformats.org/drawingml/2006/main">
              <a:ext uri="{FF2B5EF4-FFF2-40B4-BE49-F238E27FC236}">
                <a16:creationId xmlns:a16="http://schemas.microsoft.com/office/drawing/2014/main" id="{DFA5423A-F542-40A4-8CA8-572E2E7F0464}"/>
              </a:ext>
            </a:extLst>
          </p:cNvPr>
          <p:cNvSpPr>
            <a:spLocks xmlns:a="http://schemas.openxmlformats.org/drawingml/2006/main" noGrp="1"/>
          </p:cNvSpPr>
          <p:nvPr/>
        </p:nvSpPr>
        <p:spPr>
          <a:xfrm xmlns:a="http://schemas.openxmlformats.org/drawingml/2006/main">
            <a:off x="1371600" y="5334000"/>
            <a:ext cx="944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0">
                <a:solidFill>
                  <a:srgbClr val="BFC8CF"/>
                </a:solidFill>
                <a:latin typeface="Helvetica Neue"/>
                <a:ea typeface="Helvetica Neue"/>
                <a:cs typeface="Helvetica Neue"/>
              </a:defRPr>
            </a:pPr>
            <a:r>
              <a:rPr sz="1800" b="0">
                <a:solidFill>
                  <a:srgbClr val="BFC8CF"/>
                </a:solidFill>
                <a:latin typeface="Helvetica Neue"/>
                <a:ea typeface="Helvetica Neue"/>
                <a:cs typeface="Helvetica Neue"/>
              </a:rPr>
              <a:t>The audit records provider, merchant, currency, amount, mode, and completion time—never the code itself.</a:t>
            </a:r>
          </a:p>
        </p:txBody>
      </p:sp>
      <p:sp>
        <p:nvSpPr>
          <p:cNvPr id="22" name="">
            <a:extLst xmlns:a="http://schemas.openxmlformats.org/drawingml/2006/main">
              <a:ext uri="{FF2B5EF4-FFF2-40B4-BE49-F238E27FC236}">
                <a16:creationId xmlns:a16="http://schemas.microsoft.com/office/drawing/2014/main" id="{A1EDB996-81EE-4471-8E0B-B2773BE2ED63}"/>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33404A"/>
            </a:solidFill>
            <a:prstDash val="solid"/>
          </a:ln>
        </p:spPr>
      </p:sp>
      <p:sp>
        <p:nvSpPr>
          <p:cNvPr id="23" name="">
            <a:extLst xmlns:a="http://schemas.openxmlformats.org/drawingml/2006/main">
              <a:ext uri="{FF2B5EF4-FFF2-40B4-BE49-F238E27FC236}">
                <a16:creationId xmlns:a16="http://schemas.microsoft.com/office/drawing/2014/main" id="{281E377F-8B1C-4DED-94EF-316A462C9659}"/>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E9AA5"/>
                </a:solidFill>
                <a:latin typeface="Helvetica Neue"/>
                <a:ea typeface="Helvetica Neue"/>
                <a:cs typeface="Helvetica Neue"/>
              </a:defRPr>
            </a:pPr>
            <a:r>
              <a:rPr sz="825" b="1">
                <a:solidFill>
                  <a:srgbClr val="8E9AA5"/>
                </a:solidFill>
                <a:latin typeface="Helvetica Neue"/>
                <a:ea typeface="Helvetica Neue"/>
                <a:cs typeface="Helvetica Neue"/>
              </a:rPr>
              <a:t>APATA • EMAIL OTP • SECRET-FREE AUDIT</a:t>
            </a:r>
          </a:p>
        </p:txBody>
      </p:sp>
    </p:spTree>
    <p:extLst>
      <p:ext uri="{BB962C8B-B14F-4D97-AF65-F5344CB8AC3E}">
        <p14:creationId xmlns:p14="http://schemas.microsoft.com/office/powerpoint/2010/main" val="921876268"/>
      </p:ext>
    </p:extLst>
  </p:cSld>
</p:sld>
</file>

<file path=ppt/slides/slide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F3EE87-522E-45AA-9CF7-C09EDAB6893F}"/>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6DCBF4"/>
                </a:solidFill>
                <a:latin typeface="Helvetica Neue"/>
                <a:ea typeface="Helvetica Neue"/>
                <a:cs typeface="Helvetica Neue"/>
              </a:defRPr>
            </a:pPr>
            <a:r>
              <a:rPr sz="975" b="1">
                <a:solidFill>
                  <a:srgbClr val="6DCBF4"/>
                </a:solidFill>
                <a:latin typeface="Helvetica Neue"/>
                <a:ea typeface="Helvetica Neue"/>
                <a:cs typeface="Helvetica Neue"/>
              </a:rPr>
              <a:t>SURFPOOL / SOLANA</a:t>
            </a:r>
          </a:p>
        </p:txBody>
      </p:sp>
      <p:sp>
        <p:nvSpPr>
          <p:cNvPr id="2" name="">
            <a:extLst xmlns:a="http://schemas.openxmlformats.org/drawingml/2006/main">
              <a:ext uri="{FF2B5EF4-FFF2-40B4-BE49-F238E27FC236}">
                <a16:creationId xmlns:a16="http://schemas.microsoft.com/office/drawing/2014/main" id="{CC5BFCF7-4EE4-409D-95C3-BC3C4B500869}"/>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Authorization boundaries became on-chain events</a:t>
            </a:r>
          </a:p>
        </p:txBody>
      </p:sp>
      <p:sp>
        <p:nvSpPr>
          <p:cNvPr id="3" name="">
            <a:extLst xmlns:a="http://schemas.openxmlformats.org/drawingml/2006/main">
              <a:ext uri="{FF2B5EF4-FFF2-40B4-BE49-F238E27FC236}">
                <a16:creationId xmlns:a16="http://schemas.microsoft.com/office/drawing/2014/main" id="{BB386174-4A2E-4127-A1FF-0ECDBC7C5A86}"/>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AAB4BE"/>
                </a:solidFill>
                <a:latin typeface="Helvetica Neue"/>
                <a:ea typeface="Helvetica Neue"/>
                <a:cs typeface="Helvetica Neue"/>
              </a:defRPr>
            </a:pPr>
            <a:r>
              <a:rPr sz="975" b="1">
                <a:solidFill>
                  <a:srgbClr val="AAB4BE"/>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E1F74F3-42F6-4856-A1B4-54AAF41775F5}"/>
              </a:ext>
            </a:extLst>
          </p:cNvPr>
          <p:cNvSpPr>
            <a:spLocks xmlns:a="http://schemas.openxmlformats.org/drawingml/2006/main" noGrp="1"/>
          </p:cNvSpPr>
          <p:nvPr/>
        </p:nvSpPr>
        <p:spPr>
          <a:xfrm xmlns:a="http://schemas.openxmlformats.org/drawingml/2006/main">
            <a:off x="68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QUOTE APPROVED</a:t>
            </a:r>
          </a:p>
        </p:txBody>
      </p:sp>
      <p:sp>
        <p:nvSpPr>
          <p:cNvPr id="5" name="">
            <a:extLst xmlns:a="http://schemas.openxmlformats.org/drawingml/2006/main">
              <a:ext uri="{FF2B5EF4-FFF2-40B4-BE49-F238E27FC236}">
                <a16:creationId xmlns:a16="http://schemas.microsoft.com/office/drawing/2014/main" id="{D0680F04-F373-4AA0-B8C4-32FD5FB39B54}"/>
              </a:ext>
            </a:extLst>
          </p:cNvPr>
          <p:cNvSpPr>
            <a:spLocks xmlns:a="http://schemas.openxmlformats.org/drawingml/2006/main" noGrp="1"/>
          </p:cNvSpPr>
          <p:nvPr/>
        </p:nvSpPr>
        <p:spPr>
          <a:xfrm xmlns:a="http://schemas.openxmlformats.org/drawingml/2006/main">
            <a:off x="68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25.24 PLN</a:t>
            </a:r>
          </a:p>
        </p:txBody>
      </p:sp>
      <p:sp>
        <p:nvSpPr>
          <p:cNvPr id="6" name="">
            <a:extLst xmlns:a="http://schemas.openxmlformats.org/drawingml/2006/main">
              <a:ext uri="{FF2B5EF4-FFF2-40B4-BE49-F238E27FC236}">
                <a16:creationId xmlns:a16="http://schemas.microsoft.com/office/drawing/2014/main" id="{CC33DE16-1D83-49ED-BECC-6E9D4C35B1D4}"/>
              </a:ext>
            </a:extLst>
          </p:cNvPr>
          <p:cNvSpPr>
            <a:spLocks xmlns:a="http://schemas.openxmlformats.org/drawingml/2006/main" noGrp="1"/>
          </p:cNvSpPr>
          <p:nvPr/>
        </p:nvSpPr>
        <p:spPr>
          <a:xfrm xmlns:a="http://schemas.openxmlformats.org/drawingml/2006/main">
            <a:off x="68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7" name="">
            <a:extLst xmlns:a="http://schemas.openxmlformats.org/drawingml/2006/main">
              <a:ext uri="{FF2B5EF4-FFF2-40B4-BE49-F238E27FC236}">
                <a16:creationId xmlns:a16="http://schemas.microsoft.com/office/drawing/2014/main" id="{CEC442B3-CBF2-42B3-BBF9-98026F0DC891}"/>
              </a:ext>
            </a:extLst>
          </p:cNvPr>
          <p:cNvSpPr>
            <a:spLocks xmlns:a="http://schemas.openxmlformats.org/drawingml/2006/main" noGrp="1"/>
          </p:cNvSpPr>
          <p:nvPr/>
        </p:nvSpPr>
        <p:spPr>
          <a:xfrm xmlns:a="http://schemas.openxmlformats.org/drawingml/2006/main">
            <a:off x="68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5pedrWb…f6Rv2</a:t>
            </a:r>
          </a:p>
        </p:txBody>
      </p:sp>
      <p:sp>
        <p:nvSpPr>
          <p:cNvPr id="8" name="">
            <a:extLst xmlns:a="http://schemas.openxmlformats.org/drawingml/2006/main">
              <a:ext uri="{FF2B5EF4-FFF2-40B4-BE49-F238E27FC236}">
                <a16:creationId xmlns:a16="http://schemas.microsoft.com/office/drawing/2014/main" id="{155044E7-9D5D-4D84-BF49-EA786D256782}"/>
              </a:ext>
            </a:extLst>
          </p:cNvPr>
          <p:cNvSpPr>
            <a:spLocks xmlns:a="http://schemas.openxmlformats.org/drawingml/2006/main" noGrp="1"/>
          </p:cNvSpPr>
          <p:nvPr/>
        </p:nvSpPr>
        <p:spPr>
          <a:xfrm xmlns:a="http://schemas.openxmlformats.org/drawingml/2006/main">
            <a:off x="449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2B84B"/>
                </a:solidFill>
                <a:latin typeface="Helvetica Neue"/>
                <a:ea typeface="Helvetica Neue"/>
                <a:cs typeface="Helvetica Neue"/>
              </a:defRPr>
            </a:pPr>
            <a:r>
              <a:rPr sz="1125" b="1">
                <a:solidFill>
                  <a:srgbClr val="F2B84B"/>
                </a:solidFill>
                <a:latin typeface="Helvetica Neue"/>
                <a:ea typeface="Helvetica Neue"/>
                <a:cs typeface="Helvetica Neue"/>
              </a:rPr>
              <a:t>PAYMENT AUTH</a:t>
            </a:r>
          </a:p>
        </p:txBody>
      </p:sp>
      <p:sp>
        <p:nvSpPr>
          <p:cNvPr id="9" name="">
            <a:extLst xmlns:a="http://schemas.openxmlformats.org/drawingml/2006/main">
              <a:ext uri="{FF2B5EF4-FFF2-40B4-BE49-F238E27FC236}">
                <a16:creationId xmlns:a16="http://schemas.microsoft.com/office/drawing/2014/main" id="{BD3FBC26-9E27-4171-90A5-E626F1B8F9B7}"/>
              </a:ext>
            </a:extLst>
          </p:cNvPr>
          <p:cNvSpPr>
            <a:spLocks xmlns:a="http://schemas.openxmlformats.org/drawingml/2006/main" noGrp="1"/>
          </p:cNvSpPr>
          <p:nvPr/>
        </p:nvSpPr>
        <p:spPr>
          <a:xfrm xmlns:a="http://schemas.openxmlformats.org/drawingml/2006/main">
            <a:off x="449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Apata 3DS</a:t>
            </a:r>
          </a:p>
        </p:txBody>
      </p:sp>
      <p:sp>
        <p:nvSpPr>
          <p:cNvPr id="10" name="">
            <a:extLst xmlns:a="http://schemas.openxmlformats.org/drawingml/2006/main">
              <a:ext uri="{FF2B5EF4-FFF2-40B4-BE49-F238E27FC236}">
                <a16:creationId xmlns:a16="http://schemas.microsoft.com/office/drawing/2014/main" id="{239A9BA1-514D-493B-897C-66C35AB0427B}"/>
              </a:ext>
            </a:extLst>
          </p:cNvPr>
          <p:cNvSpPr>
            <a:spLocks xmlns:a="http://schemas.openxmlformats.org/drawingml/2006/main" noGrp="1"/>
          </p:cNvSpPr>
          <p:nvPr/>
        </p:nvSpPr>
        <p:spPr>
          <a:xfrm xmlns:a="http://schemas.openxmlformats.org/drawingml/2006/main">
            <a:off x="449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11" name="">
            <a:extLst xmlns:a="http://schemas.openxmlformats.org/drawingml/2006/main">
              <a:ext uri="{FF2B5EF4-FFF2-40B4-BE49-F238E27FC236}">
                <a16:creationId xmlns:a16="http://schemas.microsoft.com/office/drawing/2014/main" id="{DFB5E325-721D-4AAF-842B-2EBC8B569AEE}"/>
              </a:ext>
            </a:extLst>
          </p:cNvPr>
          <p:cNvSpPr>
            <a:spLocks xmlns:a="http://schemas.openxmlformats.org/drawingml/2006/main" noGrp="1"/>
          </p:cNvSpPr>
          <p:nvPr/>
        </p:nvSpPr>
        <p:spPr>
          <a:xfrm xmlns:a="http://schemas.openxmlformats.org/drawingml/2006/main">
            <a:off x="449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YWwoQjV…qevyPE</a:t>
            </a:r>
          </a:p>
        </p:txBody>
      </p:sp>
      <p:sp>
        <p:nvSpPr>
          <p:cNvPr id="12" name="">
            <a:extLst xmlns:a="http://schemas.openxmlformats.org/drawingml/2006/main">
              <a:ext uri="{FF2B5EF4-FFF2-40B4-BE49-F238E27FC236}">
                <a16:creationId xmlns:a16="http://schemas.microsoft.com/office/drawing/2014/main" id="{535E2F35-CE76-475F-964B-E9B5122AC4CC}"/>
              </a:ext>
            </a:extLst>
          </p:cNvPr>
          <p:cNvSpPr>
            <a:spLocks xmlns:a="http://schemas.openxmlformats.org/drawingml/2006/main" noGrp="1"/>
          </p:cNvSpPr>
          <p:nvPr/>
        </p:nvSpPr>
        <p:spPr>
          <a:xfrm xmlns:a="http://schemas.openxmlformats.org/drawingml/2006/main">
            <a:off x="830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35B88F"/>
                </a:solidFill>
                <a:latin typeface="Helvetica Neue"/>
                <a:ea typeface="Helvetica Neue"/>
                <a:cs typeface="Helvetica Neue"/>
              </a:defRPr>
            </a:pPr>
            <a:r>
              <a:rPr sz="1125" b="1">
                <a:solidFill>
                  <a:srgbClr val="35B88F"/>
                </a:solidFill>
                <a:latin typeface="Helvetica Neue"/>
                <a:ea typeface="Helvetica Neue"/>
                <a:cs typeface="Helvetica Neue"/>
              </a:rPr>
              <a:t>PURCHASE</a:t>
            </a:r>
          </a:p>
        </p:txBody>
      </p:sp>
      <p:sp>
        <p:nvSpPr>
          <p:cNvPr id="13" name="">
            <a:extLst xmlns:a="http://schemas.openxmlformats.org/drawingml/2006/main">
              <a:ext uri="{FF2B5EF4-FFF2-40B4-BE49-F238E27FC236}">
                <a16:creationId xmlns:a16="http://schemas.microsoft.com/office/drawing/2014/main" id="{BC66A548-CDE1-467A-9522-971B3F74C25D}"/>
              </a:ext>
            </a:extLst>
          </p:cNvPr>
          <p:cNvSpPr>
            <a:spLocks xmlns:a="http://schemas.openxmlformats.org/drawingml/2006/main" noGrp="1"/>
          </p:cNvSpPr>
          <p:nvPr/>
        </p:nvSpPr>
        <p:spPr>
          <a:xfrm xmlns:a="http://schemas.openxmlformats.org/drawingml/2006/main">
            <a:off x="830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Order 101758048957</a:t>
            </a:r>
          </a:p>
        </p:txBody>
      </p:sp>
      <p:sp>
        <p:nvSpPr>
          <p:cNvPr id="14" name="">
            <a:extLst xmlns:a="http://schemas.openxmlformats.org/drawingml/2006/main">
              <a:ext uri="{FF2B5EF4-FFF2-40B4-BE49-F238E27FC236}">
                <a16:creationId xmlns:a16="http://schemas.microsoft.com/office/drawing/2014/main" id="{9183241A-9DBB-499A-81B9-F9EA99009D0F}"/>
              </a:ext>
            </a:extLst>
          </p:cNvPr>
          <p:cNvSpPr>
            <a:spLocks xmlns:a="http://schemas.openxmlformats.org/drawingml/2006/main" noGrp="1"/>
          </p:cNvSpPr>
          <p:nvPr/>
        </p:nvSpPr>
        <p:spPr>
          <a:xfrm xmlns:a="http://schemas.openxmlformats.org/drawingml/2006/main">
            <a:off x="830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15" name="">
            <a:extLst xmlns:a="http://schemas.openxmlformats.org/drawingml/2006/main">
              <a:ext uri="{FF2B5EF4-FFF2-40B4-BE49-F238E27FC236}">
                <a16:creationId xmlns:a16="http://schemas.microsoft.com/office/drawing/2014/main" id="{ACD409FE-66A7-416A-85A2-41209103BCEC}"/>
              </a:ext>
            </a:extLst>
          </p:cNvPr>
          <p:cNvSpPr>
            <a:spLocks xmlns:a="http://schemas.openxmlformats.org/drawingml/2006/main" noGrp="1"/>
          </p:cNvSpPr>
          <p:nvPr/>
        </p:nvSpPr>
        <p:spPr>
          <a:xfrm xmlns:a="http://schemas.openxmlformats.org/drawingml/2006/main">
            <a:off x="830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CjJT67j…7WTbX</a:t>
            </a:r>
          </a:p>
        </p:txBody>
      </p:sp>
      <p:sp>
        <p:nvSpPr>
          <p:cNvPr id="16" name="">
            <a:extLst xmlns:a="http://schemas.openxmlformats.org/drawingml/2006/main">
              <a:ext uri="{FF2B5EF4-FFF2-40B4-BE49-F238E27FC236}">
                <a16:creationId xmlns:a16="http://schemas.microsoft.com/office/drawing/2014/main" id="{B4C13D12-4E13-4923-9015-F57707675CF3}"/>
              </a:ext>
            </a:extLst>
          </p:cNvPr>
          <p:cNvSpPr>
            <a:spLocks xmlns:a="http://schemas.openxmlformats.org/drawingml/2006/main" noGrp="1"/>
          </p:cNvSpPr>
          <p:nvPr/>
        </p:nvSpPr>
        <p:spPr>
          <a:xfrm xmlns:a="http://schemas.openxmlformats.org/drawingml/2006/main">
            <a:off x="685800" y="5086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E9AA5"/>
                </a:solidFill>
                <a:latin typeface="Helvetica Neue"/>
                <a:ea typeface="Helvetica Neue"/>
                <a:cs typeface="Helvetica Neue"/>
              </a:defRPr>
            </a:pPr>
            <a:r>
              <a:rPr sz="1050" b="1">
                <a:solidFill>
                  <a:srgbClr val="8E9AA5"/>
                </a:solidFill>
                <a:latin typeface="Helvetica Neue"/>
                <a:ea typeface="Helvetica Neue"/>
                <a:cs typeface="Helvetica Neue"/>
              </a:rPr>
              <a:t>Campaign</a:t>
            </a:r>
          </a:p>
        </p:txBody>
      </p:sp>
      <p:sp>
        <p:nvSpPr>
          <p:cNvPr id="17" name="">
            <a:extLst xmlns:a="http://schemas.openxmlformats.org/drawingml/2006/main">
              <a:ext uri="{FF2B5EF4-FFF2-40B4-BE49-F238E27FC236}">
                <a16:creationId xmlns:a16="http://schemas.microsoft.com/office/drawing/2014/main" id="{0C841CAE-8DDA-463C-A040-A3A7E06110F6}"/>
              </a:ext>
            </a:extLst>
          </p:cNvPr>
          <p:cNvSpPr>
            <a:spLocks xmlns:a="http://schemas.openxmlformats.org/drawingml/2006/main" noGrp="1"/>
          </p:cNvSpPr>
          <p:nvPr/>
        </p:nvSpPr>
        <p:spPr>
          <a:xfrm xmlns:a="http://schemas.openxmlformats.org/drawingml/2006/main">
            <a:off x="685800" y="53911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84FzYjkH…QYzh7N</a:t>
            </a:r>
          </a:p>
        </p:txBody>
      </p:sp>
      <p:sp>
        <p:nvSpPr>
          <p:cNvPr id="18" name="">
            <a:extLst xmlns:a="http://schemas.openxmlformats.org/drawingml/2006/main">
              <a:ext uri="{FF2B5EF4-FFF2-40B4-BE49-F238E27FC236}">
                <a16:creationId xmlns:a16="http://schemas.microsoft.com/office/drawing/2014/main" id="{29A167B1-11B0-4DBD-A7C5-104025E088E7}"/>
              </a:ext>
            </a:extLst>
          </p:cNvPr>
          <p:cNvSpPr>
            <a:spLocks xmlns:a="http://schemas.openxmlformats.org/drawingml/2006/main" noGrp="1"/>
          </p:cNvSpPr>
          <p:nvPr/>
        </p:nvSpPr>
        <p:spPr>
          <a:xfrm xmlns:a="http://schemas.openxmlformats.org/drawingml/2006/main">
            <a:off x="6629400" y="5086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E9AA5"/>
                </a:solidFill>
                <a:latin typeface="Helvetica Neue"/>
                <a:ea typeface="Helvetica Neue"/>
                <a:cs typeface="Helvetica Neue"/>
              </a:defRPr>
            </a:pPr>
            <a:r>
              <a:rPr sz="1050" b="1">
                <a:solidFill>
                  <a:srgbClr val="8E9AA5"/>
                </a:solidFill>
                <a:latin typeface="Helvetica Neue"/>
                <a:ea typeface="Helvetica Neue"/>
                <a:cs typeface="Helvetica Neue"/>
              </a:rPr>
              <a:t>Program ID</a:t>
            </a:r>
          </a:p>
        </p:txBody>
      </p:sp>
      <p:sp>
        <p:nvSpPr>
          <p:cNvPr id="19" name="">
            <a:extLst xmlns:a="http://schemas.openxmlformats.org/drawingml/2006/main">
              <a:ext uri="{FF2B5EF4-FFF2-40B4-BE49-F238E27FC236}">
                <a16:creationId xmlns:a16="http://schemas.microsoft.com/office/drawing/2014/main" id="{5E2B624F-4DDF-45AE-BB1E-3D01AEE2855D}"/>
              </a:ext>
            </a:extLst>
          </p:cNvPr>
          <p:cNvSpPr>
            <a:spLocks xmlns:a="http://schemas.openxmlformats.org/drawingml/2006/main" noGrp="1"/>
          </p:cNvSpPr>
          <p:nvPr/>
        </p:nvSpPr>
        <p:spPr>
          <a:xfrm xmlns:a="http://schemas.openxmlformats.org/drawingml/2006/main">
            <a:off x="6629400" y="53911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F1dNhkp…YAEhYb</a:t>
            </a:r>
          </a:p>
        </p:txBody>
      </p:sp>
      <p:sp>
        <p:nvSpPr>
          <p:cNvPr id="20" name="">
            <a:extLst xmlns:a="http://schemas.openxmlformats.org/drawingml/2006/main">
              <a:ext uri="{FF2B5EF4-FFF2-40B4-BE49-F238E27FC236}">
                <a16:creationId xmlns:a16="http://schemas.microsoft.com/office/drawing/2014/main" id="{C9BB2738-9CC8-4595-8699-0309EDC5E01C}"/>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33404A"/>
            </a:solidFill>
            <a:prstDash val="solid"/>
          </a:ln>
        </p:spPr>
      </p:sp>
      <p:sp>
        <p:nvSpPr>
          <p:cNvPr id="21" name="">
            <a:extLst xmlns:a="http://schemas.openxmlformats.org/drawingml/2006/main">
              <a:ext uri="{FF2B5EF4-FFF2-40B4-BE49-F238E27FC236}">
                <a16:creationId xmlns:a16="http://schemas.microsoft.com/office/drawing/2014/main" id="{FE8E5F45-F8D8-4EAF-9CBB-1C9DD9452C93}"/>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E9AA5"/>
                </a:solidFill>
                <a:latin typeface="Helvetica Neue"/>
                <a:ea typeface="Helvetica Neue"/>
                <a:cs typeface="Helvetica Neue"/>
              </a:defRPr>
            </a:pPr>
            <a:r>
              <a:rPr sz="825" b="1">
                <a:solidFill>
                  <a:srgbClr val="8E9AA5"/>
                </a:solidFill>
                <a:latin typeface="Helvetica Neue"/>
                <a:ea typeface="Helvetica Neue"/>
                <a:cs typeface="Helvetica Neue"/>
              </a:rPr>
              <a:t>SURFPOOL REHEARSAL • PROGRAM ID F1dNhkp…YAEhYb</a:t>
            </a:r>
          </a:p>
        </p:txBody>
      </p:sp>
    </p:spTree>
    <p:extLst>
      <p:ext uri="{BB962C8B-B14F-4D97-AF65-F5344CB8AC3E}">
        <p14:creationId xmlns:p14="http://schemas.microsoft.com/office/powerpoint/2010/main" val="19738791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4362C5-1A39-4DDA-958F-7E87C94822C0}"/>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DELIVERY EVIDENCE</a:t>
            </a:r>
          </a:p>
        </p:txBody>
      </p:sp>
      <p:sp>
        <p:nvSpPr>
          <p:cNvPr id="2" name="">
            <a:extLst xmlns:a="http://schemas.openxmlformats.org/drawingml/2006/main">
              <a:ext uri="{FF2B5EF4-FFF2-40B4-BE49-F238E27FC236}">
                <a16:creationId xmlns:a16="http://schemas.microsoft.com/office/drawing/2014/main" id="{6871696F-E06E-4BA8-B03C-2510EC51E1C8}"/>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lifecycle crossed into the physical world</a:t>
            </a:r>
          </a:p>
        </p:txBody>
      </p:sp>
      <p:sp>
        <p:nvSpPr>
          <p:cNvPr id="3" name="">
            <a:extLst xmlns:a="http://schemas.openxmlformats.org/drawingml/2006/main">
              <a:ext uri="{FF2B5EF4-FFF2-40B4-BE49-F238E27FC236}">
                <a16:creationId xmlns:a16="http://schemas.microsoft.com/office/drawing/2014/main" id="{C70A8FC7-8504-4A9D-9E48-9D5305AF5FE6}"/>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1BFE94BE-B89F-439B-BEC2-9371629D1F49}"/>
              </a:ext>
            </a:extLst>
          </p:cNvPr>
          <p:cNvSpPr>
            <a:spLocks xmlns:a="http://schemas.openxmlformats.org/drawingml/2006/main" noGrp="1"/>
          </p:cNvSpPr>
          <p:nvPr/>
        </p:nvSpPr>
        <p:spPr>
          <a:xfrm xmlns:a="http://schemas.openxmlformats.org/drawingml/2006/main">
            <a:off x="676275" y="1685925"/>
            <a:ext cx="7258050" cy="4248150"/>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9DDE1"/>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3015134555c4bb4"/>
          <a:srcRect xmlns:a="http://schemas.openxmlformats.org/drawingml/2006/main" l="0" t="11053" r="0" b="11053"/>
          <a:stretch xmlns:a="http://schemas.openxmlformats.org/drawingml/2006/main">
            <a:fillRect l="0" t="0" r="0" b="0"/>
          </a:stretch>
        </p:blipFill>
        <p:spPr>
          <a:xfrm xmlns:a="http://schemas.openxmlformats.org/drawingml/2006/main">
            <a:off x="685800" y="1695450"/>
            <a:ext cx="7239000" cy="4229100"/>
          </a:xfrm>
          <a:prstGeom xmlns:a="http://schemas.openxmlformats.org/drawingml/2006/main" prst="roundRect">
            <a:avLst>
              <a:gd name="adj" fmla="val 3378"/>
            </a:avLst>
          </a:prstGeom>
        </p:spPr>
      </p:pic>
      <p:sp>
        <p:nvSpPr>
          <p:cNvPr id="6" name="">
            <a:extLst xmlns:a="http://schemas.openxmlformats.org/drawingml/2006/main">
              <a:ext uri="{FF2B5EF4-FFF2-40B4-BE49-F238E27FC236}">
                <a16:creationId xmlns:a16="http://schemas.microsoft.com/office/drawing/2014/main" id="{CB91B8A0-516B-482A-99AB-AB15B01C2417}"/>
              </a:ext>
            </a:extLst>
          </p:cNvPr>
          <p:cNvSpPr>
            <a:spLocks xmlns:a="http://schemas.openxmlformats.org/drawingml/2006/main" noGrp="1"/>
          </p:cNvSpPr>
          <p:nvPr/>
        </p:nvSpPr>
        <p:spPr>
          <a:xfrm xmlns:a="http://schemas.openxmlformats.org/drawingml/2006/main">
            <a:off x="8439150" y="1885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DELIVERED</a:t>
            </a:r>
          </a:p>
        </p:txBody>
      </p:sp>
      <p:sp>
        <p:nvSpPr>
          <p:cNvPr id="7" name="">
            <a:extLst xmlns:a="http://schemas.openxmlformats.org/drawingml/2006/main">
              <a:ext uri="{FF2B5EF4-FFF2-40B4-BE49-F238E27FC236}">
                <a16:creationId xmlns:a16="http://schemas.microsoft.com/office/drawing/2014/main" id="{33AC2AAC-B05A-471D-ABA1-3389882D5329}"/>
              </a:ext>
            </a:extLst>
          </p:cNvPr>
          <p:cNvSpPr>
            <a:spLocks xmlns:a="http://schemas.openxmlformats.org/drawingml/2006/main" noGrp="1"/>
          </p:cNvSpPr>
          <p:nvPr/>
        </p:nvSpPr>
        <p:spPr>
          <a:xfrm xmlns:a="http://schemas.openxmlformats.org/drawingml/2006/main">
            <a:off x="84391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74"/>
          </a:bodyPr>
          <a:lstStyle xmlns:a="http://schemas.openxmlformats.org/drawingml/2006/main"/>
          <a:p xmlns:a="http://schemas.openxmlformats.org/drawingml/2006/main">
            <a:pPr algn="l">
              <a:lnSpc>
                <a:spcPct val="100000"/>
              </a:lnSpc>
              <a:buNone/>
              <a:defRPr sz="4650" b="1">
                <a:solidFill>
                  <a:srgbClr val="111111"/>
                </a:solidFill>
                <a:latin typeface="Helvetica Neue"/>
                <a:ea typeface="Helvetica Neue"/>
                <a:cs typeface="Helvetica Neue"/>
              </a:defRPr>
            </a:pPr>
            <a:r>
              <a:rPr sz="4650" b="1">
                <a:solidFill>
                  <a:srgbClr val="111111"/>
                </a:solidFill>
                <a:latin typeface="Helvetica Neue"/>
                <a:ea typeface="Helvetica Neue"/>
                <a:cs typeface="Helvetica Neue"/>
              </a:rPr>
              <a:t>15:35</a:t>
            </a:r>
          </a:p>
        </p:txBody>
      </p:sp>
      <p:sp>
        <p:nvSpPr>
          <p:cNvPr id="8" name="">
            <a:extLst xmlns:a="http://schemas.openxmlformats.org/drawingml/2006/main">
              <a:ext uri="{FF2B5EF4-FFF2-40B4-BE49-F238E27FC236}">
                <a16:creationId xmlns:a16="http://schemas.microsoft.com/office/drawing/2014/main" id="{D312B930-49ED-4D69-B404-378613F8C7CF}"/>
              </a:ext>
            </a:extLst>
          </p:cNvPr>
          <p:cNvSpPr>
            <a:spLocks xmlns:a="http://schemas.openxmlformats.org/drawingml/2006/main" noGrp="1"/>
          </p:cNvSpPr>
          <p:nvPr/>
        </p:nvSpPr>
        <p:spPr>
          <a:xfrm xmlns:a="http://schemas.openxmlformats.org/drawingml/2006/main">
            <a:off x="8439150" y="3105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a:solidFill>
                  <a:srgbClr val="5B6168"/>
                </a:solidFill>
                <a:latin typeface="Helvetica Neue"/>
                <a:ea typeface="Helvetica Neue"/>
                <a:cs typeface="Helvetica Neue"/>
              </a:defRPr>
            </a:pPr>
            <a:r>
              <a:rPr sz="1725" b="0">
                <a:solidFill>
                  <a:srgbClr val="5B6168"/>
                </a:solidFill>
                <a:latin typeface="Helvetica Neue"/>
                <a:ea typeface="Helvetica Neue"/>
                <a:cs typeface="Helvetica Neue"/>
              </a:rPr>
              <a:t>30 Aug 2026</a:t>
            </a:r>
          </a:p>
        </p:txBody>
      </p:sp>
      <p:sp>
        <p:nvSpPr>
          <p:cNvPr id="9" name="">
            <a:extLst xmlns:a="http://schemas.openxmlformats.org/drawingml/2006/main">
              <a:ext uri="{FF2B5EF4-FFF2-40B4-BE49-F238E27FC236}">
                <a16:creationId xmlns:a16="http://schemas.microsoft.com/office/drawing/2014/main" id="{8DB4148E-8997-41F6-A60C-9995411F8A07}"/>
              </a:ext>
            </a:extLst>
          </p:cNvPr>
          <p:cNvSpPr>
            <a:spLocks xmlns:a="http://schemas.openxmlformats.org/drawingml/2006/main" noGrp="1"/>
          </p:cNvSpPr>
          <p:nvPr/>
        </p:nvSpPr>
        <p:spPr>
          <a:xfrm xmlns:a="http://schemas.openxmlformats.org/drawingml/2006/main">
            <a:off x="8439150" y="3733800"/>
            <a:ext cx="28575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0" name="">
            <a:extLst xmlns:a="http://schemas.openxmlformats.org/drawingml/2006/main">
              <a:ext uri="{FF2B5EF4-FFF2-40B4-BE49-F238E27FC236}">
                <a16:creationId xmlns:a16="http://schemas.microsoft.com/office/drawing/2014/main" id="{A25B7C32-1E37-404C-B8BF-8F0A1C0C2FF9}"/>
              </a:ext>
            </a:extLst>
          </p:cNvPr>
          <p:cNvSpPr>
            <a:spLocks xmlns:a="http://schemas.openxmlformats.org/drawingml/2006/main" noGrp="1"/>
          </p:cNvSpPr>
          <p:nvPr/>
        </p:nvSpPr>
        <p:spPr>
          <a:xfrm xmlns:a="http://schemas.openxmlformats.org/drawingml/2006/main">
            <a:off x="8439150" y="403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Order ID</a:t>
            </a:r>
          </a:p>
        </p:txBody>
      </p:sp>
      <p:sp>
        <p:nvSpPr>
          <p:cNvPr id="11" name="">
            <a:extLst xmlns:a="http://schemas.openxmlformats.org/drawingml/2006/main">
              <a:ext uri="{FF2B5EF4-FFF2-40B4-BE49-F238E27FC236}">
                <a16:creationId xmlns:a16="http://schemas.microsoft.com/office/drawing/2014/main" id="{4EE75B98-BC6B-4DDE-B7E7-EC099EC5187B}"/>
              </a:ext>
            </a:extLst>
          </p:cNvPr>
          <p:cNvSpPr>
            <a:spLocks xmlns:a="http://schemas.openxmlformats.org/drawingml/2006/main" noGrp="1"/>
          </p:cNvSpPr>
          <p:nvPr/>
        </p:nvSpPr>
        <p:spPr>
          <a:xfrm xmlns:a="http://schemas.openxmlformats.org/drawingml/2006/main">
            <a:off x="8439150" y="4362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101758048957</a:t>
            </a:r>
          </a:p>
        </p:txBody>
      </p:sp>
      <p:sp>
        <p:nvSpPr>
          <p:cNvPr id="12" name="">
            <a:extLst xmlns:a="http://schemas.openxmlformats.org/drawingml/2006/main">
              <a:ext uri="{FF2B5EF4-FFF2-40B4-BE49-F238E27FC236}">
                <a16:creationId xmlns:a16="http://schemas.microsoft.com/office/drawing/2014/main" id="{1B17B5DF-856B-4717-9606-F0877D318240}"/>
              </a:ext>
            </a:extLst>
          </p:cNvPr>
          <p:cNvSpPr>
            <a:spLocks xmlns:a="http://schemas.openxmlformats.org/drawingml/2006/main" noGrp="1"/>
          </p:cNvSpPr>
          <p:nvPr/>
        </p:nvSpPr>
        <p:spPr>
          <a:xfrm xmlns:a="http://schemas.openxmlformats.org/drawingml/2006/main">
            <a:off x="8439150" y="50673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Photo proof +</a:t>
            </a:r>
          </a:p>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human receipt confirmed</a:t>
            </a:r>
          </a:p>
        </p:txBody>
      </p:sp>
      <p:sp>
        <p:nvSpPr>
          <p:cNvPr id="13" name="">
            <a:extLst xmlns:a="http://schemas.openxmlformats.org/drawingml/2006/main">
              <a:ext uri="{FF2B5EF4-FFF2-40B4-BE49-F238E27FC236}">
                <a16:creationId xmlns:a16="http://schemas.microsoft.com/office/drawing/2014/main" id="{9B7C8553-A1C1-49F0-8991-6786714B4D1B}"/>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4" name="">
            <a:extLst xmlns:a="http://schemas.openxmlformats.org/drawingml/2006/main">
              <a:ext uri="{FF2B5EF4-FFF2-40B4-BE49-F238E27FC236}">
                <a16:creationId xmlns:a16="http://schemas.microsoft.com/office/drawing/2014/main" id="{BAC638F0-D4D7-4EDF-A155-93B80FC5B8B4}"/>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445525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7C361C-FF5F-4630-A912-DA6F1F5A5A1E}"/>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RECONCILIATION</a:t>
            </a:r>
          </a:p>
        </p:txBody>
      </p:sp>
      <p:sp>
        <p:nvSpPr>
          <p:cNvPr id="2" name="">
            <a:extLst xmlns:a="http://schemas.openxmlformats.org/drawingml/2006/main">
              <a:ext uri="{FF2B5EF4-FFF2-40B4-BE49-F238E27FC236}">
                <a16:creationId xmlns:a16="http://schemas.microsoft.com/office/drawing/2014/main" id="{B72DA971-D789-4513-9CC0-544A55795D5F}"/>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key result: settlement was blocked</a:t>
            </a:r>
          </a:p>
        </p:txBody>
      </p:sp>
      <p:sp>
        <p:nvSpPr>
          <p:cNvPr id="3" name="">
            <a:extLst xmlns:a="http://schemas.openxmlformats.org/drawingml/2006/main">
              <a:ext uri="{FF2B5EF4-FFF2-40B4-BE49-F238E27FC236}">
                <a16:creationId xmlns:a16="http://schemas.microsoft.com/office/drawing/2014/main" id="{47165A80-4EE0-4305-AE10-D41A3375510E}"/>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B306C3D-680C-4905-914C-D552B35108F4}"/>
              </a:ext>
            </a:extLst>
          </p:cNvPr>
          <p:cNvSpPr>
            <a:spLocks xmlns:a="http://schemas.openxmlformats.org/drawingml/2006/main" noGrp="1"/>
          </p:cNvSpPr>
          <p:nvPr/>
        </p:nvSpPr>
        <p:spPr>
          <a:xfrm xmlns:a="http://schemas.openxmlformats.org/drawingml/2006/main">
            <a:off x="87630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3D8DFF"/>
                </a:solidFill>
                <a:latin typeface="Helvetica Neue"/>
                <a:ea typeface="Helvetica Neue"/>
                <a:cs typeface="Helvetica Neue"/>
              </a:defRPr>
            </a:pPr>
            <a:r>
              <a:rPr sz="4650" b="1">
                <a:solidFill>
                  <a:srgbClr val="3D8DFF"/>
                </a:solidFill>
                <a:latin typeface="Helvetica Neue"/>
                <a:ea typeface="Helvetica Neue"/>
                <a:cs typeface="Helvetica Neue"/>
              </a:rPr>
              <a:t>25.24</a:t>
            </a:r>
          </a:p>
        </p:txBody>
      </p:sp>
      <p:sp>
        <p:nvSpPr>
          <p:cNvPr id="5" name="">
            <a:extLst xmlns:a="http://schemas.openxmlformats.org/drawingml/2006/main">
              <a:ext uri="{FF2B5EF4-FFF2-40B4-BE49-F238E27FC236}">
                <a16:creationId xmlns:a16="http://schemas.microsoft.com/office/drawing/2014/main" id="{5A3CDF53-20F3-4039-BBE4-5F6EEBE5664F}"/>
              </a:ext>
            </a:extLst>
          </p:cNvPr>
          <p:cNvSpPr>
            <a:spLocks xmlns:a="http://schemas.openxmlformats.org/drawingml/2006/main" noGrp="1"/>
          </p:cNvSpPr>
          <p:nvPr/>
        </p:nvSpPr>
        <p:spPr>
          <a:xfrm xmlns:a="http://schemas.openxmlformats.org/drawingml/2006/main">
            <a:off x="87630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approved quote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6" name="">
            <a:extLst xmlns:a="http://schemas.openxmlformats.org/drawingml/2006/main">
              <a:ext uri="{FF2B5EF4-FFF2-40B4-BE49-F238E27FC236}">
                <a16:creationId xmlns:a16="http://schemas.microsoft.com/office/drawing/2014/main" id="{09C2AE79-1BFF-48E1-86FD-A4F9D4F67871}"/>
              </a:ext>
            </a:extLst>
          </p:cNvPr>
          <p:cNvSpPr>
            <a:spLocks xmlns:a="http://schemas.openxmlformats.org/drawingml/2006/main" noGrp="1"/>
          </p:cNvSpPr>
          <p:nvPr/>
        </p:nvSpPr>
        <p:spPr>
          <a:xfrm xmlns:a="http://schemas.openxmlformats.org/drawingml/2006/main">
            <a:off x="462915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E45757"/>
                </a:solidFill>
                <a:latin typeface="Helvetica Neue"/>
                <a:ea typeface="Helvetica Neue"/>
                <a:cs typeface="Helvetica Neue"/>
              </a:defRPr>
            </a:pPr>
            <a:r>
              <a:rPr sz="4650" b="1">
                <a:solidFill>
                  <a:srgbClr val="E45757"/>
                </a:solidFill>
                <a:latin typeface="Helvetica Neue"/>
                <a:ea typeface="Helvetica Neue"/>
                <a:cs typeface="Helvetica Neue"/>
              </a:rPr>
              <a:t>26.09</a:t>
            </a:r>
          </a:p>
        </p:txBody>
      </p:sp>
      <p:sp>
        <p:nvSpPr>
          <p:cNvPr id="7" name="">
            <a:extLst xmlns:a="http://schemas.openxmlformats.org/drawingml/2006/main">
              <a:ext uri="{FF2B5EF4-FFF2-40B4-BE49-F238E27FC236}">
                <a16:creationId xmlns:a16="http://schemas.microsoft.com/office/drawing/2014/main" id="{1B576CC7-F7FB-4E1C-B27D-11B2B8ADD638}"/>
              </a:ext>
            </a:extLst>
          </p:cNvPr>
          <p:cNvSpPr>
            <a:spLocks xmlns:a="http://schemas.openxmlformats.org/drawingml/2006/main" noGrp="1"/>
          </p:cNvSpPr>
          <p:nvPr/>
        </p:nvSpPr>
        <p:spPr>
          <a:xfrm xmlns:a="http://schemas.openxmlformats.org/drawingml/2006/main">
            <a:off x="462915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final merchant charge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8" name="">
            <a:extLst xmlns:a="http://schemas.openxmlformats.org/drawingml/2006/main">
              <a:ext uri="{FF2B5EF4-FFF2-40B4-BE49-F238E27FC236}">
                <a16:creationId xmlns:a16="http://schemas.microsoft.com/office/drawing/2014/main" id="{90BF1916-A3EC-40C1-AFB0-CC1813ABFC99}"/>
              </a:ext>
            </a:extLst>
          </p:cNvPr>
          <p:cNvSpPr>
            <a:spLocks xmlns:a="http://schemas.openxmlformats.org/drawingml/2006/main" noGrp="1"/>
          </p:cNvSpPr>
          <p:nvPr/>
        </p:nvSpPr>
        <p:spPr>
          <a:xfrm xmlns:a="http://schemas.openxmlformats.org/drawingml/2006/main">
            <a:off x="838200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E45757"/>
                </a:solidFill>
                <a:latin typeface="Helvetica Neue"/>
                <a:ea typeface="Helvetica Neue"/>
                <a:cs typeface="Helvetica Neue"/>
              </a:defRPr>
            </a:pPr>
            <a:r>
              <a:rPr sz="4650" b="1">
                <a:solidFill>
                  <a:srgbClr val="E45757"/>
                </a:solidFill>
                <a:latin typeface="Helvetica Neue"/>
                <a:ea typeface="Helvetica Neue"/>
                <a:cs typeface="Helvetica Neue"/>
              </a:rPr>
              <a:t>+0.85</a:t>
            </a:r>
          </a:p>
        </p:txBody>
      </p:sp>
      <p:sp>
        <p:nvSpPr>
          <p:cNvPr id="9" name="">
            <a:extLst xmlns:a="http://schemas.openxmlformats.org/drawingml/2006/main">
              <a:ext uri="{FF2B5EF4-FFF2-40B4-BE49-F238E27FC236}">
                <a16:creationId xmlns:a16="http://schemas.microsoft.com/office/drawing/2014/main" id="{45E41A42-5A88-4236-A789-C18803D3B69F}"/>
              </a:ext>
            </a:extLst>
          </p:cNvPr>
          <p:cNvSpPr>
            <a:spLocks xmlns:a="http://schemas.openxmlformats.org/drawingml/2006/main" noGrp="1"/>
          </p:cNvSpPr>
          <p:nvPr/>
        </p:nvSpPr>
        <p:spPr>
          <a:xfrm xmlns:a="http://schemas.openxmlformats.org/drawingml/2006/main">
            <a:off x="838200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variance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10" name="">
            <a:extLst xmlns:a="http://schemas.openxmlformats.org/drawingml/2006/main">
              <a:ext uri="{FF2B5EF4-FFF2-40B4-BE49-F238E27FC236}">
                <a16:creationId xmlns:a16="http://schemas.microsoft.com/office/drawing/2014/main" id="{93AB3D9F-83C4-4995-B059-66B0FD5F16FB}"/>
              </a:ext>
            </a:extLst>
          </p:cNvPr>
          <p:cNvSpPr>
            <a:spLocks xmlns:a="http://schemas.openxmlformats.org/drawingml/2006/main" noGrp="1"/>
          </p:cNvSpPr>
          <p:nvPr/>
        </p:nvSpPr>
        <p:spPr>
          <a:xfrm xmlns:a="http://schemas.openxmlformats.org/drawingml/2006/main">
            <a:off x="3543300" y="2628900"/>
            <a:ext cx="895350" cy="0"/>
          </a:xfrm>
          <a:prstGeom xmlns:a="http://schemas.openxmlformats.org/drawingml/2006/main" prst="line">
            <a:avLst/>
          </a:prstGeom>
          <a:noFill xmlns:a="http://schemas.openxmlformats.org/drawingml/2006/main"/>
          <a:ln xmlns:a="http://schemas.openxmlformats.org/drawingml/2006/main" w="28575">
            <a:solidFill>
              <a:srgbClr val="D9DDE1"/>
            </a:solidFill>
            <a:prstDash val="solid"/>
          </a:ln>
        </p:spPr>
      </p:sp>
      <p:sp>
        <p:nvSpPr>
          <p:cNvPr id="11" name="">
            <a:extLst xmlns:a="http://schemas.openxmlformats.org/drawingml/2006/main">
              <a:ext uri="{FF2B5EF4-FFF2-40B4-BE49-F238E27FC236}">
                <a16:creationId xmlns:a16="http://schemas.microsoft.com/office/drawing/2014/main" id="{317493EC-FD49-4B2D-8BEC-EDDEEECE35AE}"/>
              </a:ext>
            </a:extLst>
          </p:cNvPr>
          <p:cNvSpPr>
            <a:spLocks xmlns:a="http://schemas.openxmlformats.org/drawingml/2006/main" noGrp="1"/>
          </p:cNvSpPr>
          <p:nvPr/>
        </p:nvSpPr>
        <p:spPr>
          <a:xfrm xmlns:a="http://schemas.openxmlformats.org/drawingml/2006/main">
            <a:off x="3810000" y="2324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000" b="1">
                <a:solidFill>
                  <a:srgbClr val="5B6168"/>
                </a:solidFill>
                <a:latin typeface="Helvetica Neue"/>
                <a:ea typeface="Helvetica Neue"/>
                <a:cs typeface="Helvetica Neue"/>
              </a:defRPr>
            </a:pPr>
            <a:r>
              <a:rPr sz="3000" b="1">
                <a:solidFill>
                  <a:srgbClr val="5B6168"/>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7461CC9D-4A48-4ECA-97E0-2BD4538A3F31}"/>
              </a:ext>
            </a:extLst>
          </p:cNvPr>
          <p:cNvSpPr>
            <a:spLocks xmlns:a="http://schemas.openxmlformats.org/drawingml/2006/main" noGrp="1"/>
          </p:cNvSpPr>
          <p:nvPr/>
        </p:nvSpPr>
        <p:spPr>
          <a:xfrm xmlns:a="http://schemas.openxmlformats.org/drawingml/2006/main">
            <a:off x="7296150" y="2628900"/>
            <a:ext cx="895350" cy="0"/>
          </a:xfrm>
          <a:prstGeom xmlns:a="http://schemas.openxmlformats.org/drawingml/2006/main" prst="line">
            <a:avLst/>
          </a:prstGeom>
          <a:noFill xmlns:a="http://schemas.openxmlformats.org/drawingml/2006/main"/>
          <a:ln xmlns:a="http://schemas.openxmlformats.org/drawingml/2006/main" w="28575">
            <a:solidFill>
              <a:srgbClr val="D9DDE1"/>
            </a:solidFill>
            <a:prstDash val="solid"/>
          </a:ln>
        </p:spPr>
      </p:sp>
      <p:sp>
        <p:nvSpPr>
          <p:cNvPr id="13" name="">
            <a:extLst xmlns:a="http://schemas.openxmlformats.org/drawingml/2006/main">
              <a:ext uri="{FF2B5EF4-FFF2-40B4-BE49-F238E27FC236}">
                <a16:creationId xmlns:a16="http://schemas.microsoft.com/office/drawing/2014/main" id="{79C602C6-8B10-4D40-9E9B-E5829F6A459E}"/>
              </a:ext>
            </a:extLst>
          </p:cNvPr>
          <p:cNvSpPr>
            <a:spLocks xmlns:a="http://schemas.openxmlformats.org/drawingml/2006/main" noGrp="1"/>
          </p:cNvSpPr>
          <p:nvPr/>
        </p:nvSpPr>
        <p:spPr>
          <a:xfrm xmlns:a="http://schemas.openxmlformats.org/drawingml/2006/main">
            <a:off x="7562850" y="2324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000" b="1">
                <a:solidFill>
                  <a:srgbClr val="5B6168"/>
                </a:solidFill>
                <a:latin typeface="Helvetica Neue"/>
                <a:ea typeface="Helvetica Neue"/>
                <a:cs typeface="Helvetica Neue"/>
              </a:defRPr>
            </a:pPr>
            <a:r>
              <a:rPr sz="3000" b="1">
                <a:solidFill>
                  <a:srgbClr val="5B6168"/>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9048589F-6923-4890-BA5E-03806C4FD697}"/>
              </a:ext>
            </a:extLst>
          </p:cNvPr>
          <p:cNvSpPr>
            <a:spLocks xmlns:a="http://schemas.openxmlformats.org/drawingml/2006/main" noGrp="1"/>
          </p:cNvSpPr>
          <p:nvPr/>
        </p:nvSpPr>
        <p:spPr>
          <a:xfrm xmlns:a="http://schemas.openxmlformats.org/drawingml/2006/main">
            <a:off x="1752600" y="4591050"/>
            <a:ext cx="8686800" cy="1028700"/>
          </a:xfrm>
          <a:prstGeom xmlns:a="http://schemas.openxmlformats.org/drawingml/2006/main" prst="roundRect">
            <a:avLst>
              <a:gd name="adj" fmla="val 16667"/>
            </a:avLst>
          </a:prstGeom>
          <a:solidFill xmlns:a="http://schemas.openxmlformats.org/drawingml/2006/main">
            <a:srgbClr val="FFE3E3"/>
          </a:solidFill>
          <a:ln xmlns:a="http://schemas.openxmlformats.org/drawingml/2006/main" w="9525">
            <a:solidFill>
              <a:srgbClr val="E45757"/>
            </a:solidFill>
            <a:prstDash val="solid"/>
          </a:ln>
        </p:spPr>
      </p:sp>
      <p:sp>
        <p:nvSpPr>
          <p:cNvPr id="15" name="">
            <a:extLst xmlns:a="http://schemas.openxmlformats.org/drawingml/2006/main">
              <a:ext uri="{FF2B5EF4-FFF2-40B4-BE49-F238E27FC236}">
                <a16:creationId xmlns:a16="http://schemas.microsoft.com/office/drawing/2014/main" id="{EB20BC75-A601-4CB8-BD3F-E7E455220B56}"/>
              </a:ext>
            </a:extLst>
          </p:cNvPr>
          <p:cNvSpPr>
            <a:spLocks xmlns:a="http://schemas.openxmlformats.org/drawingml/2006/main" noGrp="1"/>
          </p:cNvSpPr>
          <p:nvPr/>
        </p:nvSpPr>
        <p:spPr>
          <a:xfrm xmlns:a="http://schemas.openxmlformats.org/drawingml/2006/main">
            <a:off x="2038350" y="4810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9C2828"/>
                </a:solidFill>
                <a:latin typeface="Helvetica Neue"/>
                <a:ea typeface="Helvetica Neue"/>
                <a:cs typeface="Helvetica Neue"/>
              </a:defRPr>
            </a:pPr>
            <a:r>
              <a:rPr sz="1650" b="1">
                <a:solidFill>
                  <a:srgbClr val="9C2828"/>
                </a:solidFill>
                <a:latin typeface="Helvetica Neue"/>
                <a:ea typeface="Helvetica Neue"/>
                <a:cs typeface="Helvetica Neue"/>
              </a:rPr>
              <a:t>SETTLEMENT BLOCKED</a:t>
            </a:r>
          </a:p>
        </p:txBody>
      </p:sp>
      <p:sp>
        <p:nvSpPr>
          <p:cNvPr id="16" name="">
            <a:extLst xmlns:a="http://schemas.openxmlformats.org/drawingml/2006/main">
              <a:ext uri="{FF2B5EF4-FFF2-40B4-BE49-F238E27FC236}">
                <a16:creationId xmlns:a16="http://schemas.microsoft.com/office/drawing/2014/main" id="{86F8466D-FF52-4EBA-9848-BBDE86ECC1E1}"/>
              </a:ext>
            </a:extLst>
          </p:cNvPr>
          <p:cNvSpPr>
            <a:spLocks xmlns:a="http://schemas.openxmlformats.org/drawingml/2006/main" noGrp="1"/>
          </p:cNvSpPr>
          <p:nvPr/>
        </p:nvSpPr>
        <p:spPr>
          <a:xfrm xmlns:a="http://schemas.openxmlformats.org/drawingml/2006/main">
            <a:off x="5181600" y="4762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717"/>
          </a:bodyPr>
          <a:lstStyle xmlns:a="http://schemas.openxmlformats.org/drawingml/2006/main"/>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The final charge was 0.09 PLN above the hard cap. Human reconciliation is required.</a:t>
            </a:r>
          </a:p>
        </p:txBody>
      </p:sp>
      <p:sp>
        <p:nvSpPr>
          <p:cNvPr id="17" name="">
            <a:extLst xmlns:a="http://schemas.openxmlformats.org/drawingml/2006/main">
              <a:ext uri="{FF2B5EF4-FFF2-40B4-BE49-F238E27FC236}">
                <a16:creationId xmlns:a16="http://schemas.microsoft.com/office/drawing/2014/main" id="{37102AA4-05B1-4821-A486-899B75577CDB}"/>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8" name="">
            <a:extLst xmlns:a="http://schemas.openxmlformats.org/drawingml/2006/main">
              <a:ext uri="{FF2B5EF4-FFF2-40B4-BE49-F238E27FC236}">
                <a16:creationId xmlns:a16="http://schemas.microsoft.com/office/drawing/2014/main" id="{E973474F-FFF2-4CA0-BD35-73DBED289D86}"/>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3444424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A0C5F6-C45C-486F-96F9-BFEF26BAC9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20C378BA-CAC6-409C-9D09-AFF73657C71B}"/>
              </a:ext>
            </a:extLst>
          </p:cNvPr>
          <p:cNvSpPr>
            <a:spLocks xmlns:a="http://schemas.openxmlformats.org/drawingml/2006/main" noGrp="1"/>
          </p:cNvSpPr>
          <p:nvPr/>
        </p:nvSpPr>
        <p:spPr>
          <a:xfrm xmlns:a="http://schemas.openxmlformats.org/drawingml/2006/main">
            <a:off x="72390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THE THESIS</a:t>
            </a:r>
          </a:p>
        </p:txBody>
      </p:sp>
      <p:sp>
        <p:nvSpPr>
          <p:cNvPr id="3" name="">
            <a:extLst xmlns:a="http://schemas.openxmlformats.org/drawingml/2006/main">
              <a:ext uri="{FF2B5EF4-FFF2-40B4-BE49-F238E27FC236}">
                <a16:creationId xmlns:a16="http://schemas.microsoft.com/office/drawing/2014/main" id="{D67858E3-F282-4DE0-BAB9-1988895FB98F}"/>
              </a:ext>
            </a:extLst>
          </p:cNvPr>
          <p:cNvSpPr>
            <a:spLocks xmlns:a="http://schemas.openxmlformats.org/drawingml/2006/main" noGrp="1"/>
          </p:cNvSpPr>
          <p:nvPr/>
        </p:nvSpPr>
        <p:spPr>
          <a:xfrm xmlns:a="http://schemas.openxmlformats.org/drawingml/2006/main">
            <a:off x="723900" y="120015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26"/>
          </a:bodyPr>
          <a:lstStyle xmlns:a="http://schemas.openxmlformats.org/drawingml/2006/main"/>
          <a:p xmlns:a="http://schemas.openxmlformats.org/drawingml/2006/main">
            <a:pPr algn="l">
              <a:lnSpc>
                <a:spcPct val="94000"/>
              </a:lnSpc>
              <a:buNone/>
              <a:defRPr sz="3900" b="1">
                <a:solidFill>
                  <a:srgbClr val="111111"/>
                </a:solidFill>
                <a:latin typeface="Helvetica Neue"/>
                <a:ea typeface="Helvetica Neue"/>
                <a:cs typeface="Helvetica Neue"/>
              </a:defRPr>
            </a:pPr>
            <a:r>
              <a:rPr sz="3900" b="1">
                <a:solidFill>
                  <a:srgbClr val="111111"/>
                </a:solidFill>
                <a:latin typeface="Helvetica Neue"/>
                <a:ea typeface="Helvetica Neue"/>
                <a:cs typeface="Helvetica Neue"/>
              </a:rPr>
              <a:t>A browser can transact where APIs do not exist.</a:t>
            </a:r>
          </a:p>
          <a:p xmlns:a="http://schemas.openxmlformats.org/drawingml/2006/main">
            <a:pPr algn="l">
              <a:lnSpc>
                <a:spcPct val="94000"/>
              </a:lnSpc>
              <a:buNone/>
              <a:defRPr sz="3900" b="1">
                <a:solidFill>
                  <a:srgbClr val="111111"/>
                </a:solidFill>
                <a:latin typeface="Helvetica Neue"/>
                <a:ea typeface="Helvetica Neue"/>
                <a:cs typeface="Helvetica Neue"/>
              </a:defRPr>
            </a:pPr>
            <a:r>
              <a:rPr sz="3900" b="1">
                <a:solidFill>
                  <a:srgbClr val="111111"/>
                </a:solidFill>
                <a:latin typeface="Helvetica Neue"/>
                <a:ea typeface="Helvetica Neue"/>
                <a:cs typeface="Helvetica Neue"/>
              </a:rPr>
              <a:t>A protocol decides when it should.</a:t>
            </a:r>
          </a:p>
        </p:txBody>
      </p:sp>
      <p:sp>
        <p:nvSpPr>
          <p:cNvPr id="4" name="">
            <a:extLst xmlns:a="http://schemas.openxmlformats.org/drawingml/2006/main">
              <a:ext uri="{FF2B5EF4-FFF2-40B4-BE49-F238E27FC236}">
                <a16:creationId xmlns:a16="http://schemas.microsoft.com/office/drawing/2014/main" id="{618821D4-F4ED-483D-B0A0-D00A9388EB18}"/>
              </a:ext>
            </a:extLst>
          </p:cNvPr>
          <p:cNvSpPr>
            <a:spLocks xmlns:a="http://schemas.openxmlformats.org/drawingml/2006/main" noGrp="1"/>
          </p:cNvSpPr>
          <p:nvPr/>
        </p:nvSpPr>
        <p:spPr>
          <a:xfrm xmlns:a="http://schemas.openxmlformats.org/drawingml/2006/main">
            <a:off x="762000" y="3314700"/>
            <a:ext cx="106680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5" name="">
            <a:extLst xmlns:a="http://schemas.openxmlformats.org/drawingml/2006/main">
              <a:ext uri="{FF2B5EF4-FFF2-40B4-BE49-F238E27FC236}">
                <a16:creationId xmlns:a16="http://schemas.microsoft.com/office/drawing/2014/main" id="{6A0DE863-20C2-4AAA-A06A-43C49D0C00EC}"/>
              </a:ext>
            </a:extLst>
          </p:cNvPr>
          <p:cNvSpPr>
            <a:spLocks xmlns:a="http://schemas.openxmlformats.org/drawingml/2006/main" noGrp="1"/>
          </p:cNvSpPr>
          <p:nvPr/>
        </p:nvSpPr>
        <p:spPr>
          <a:xfrm xmlns:a="http://schemas.openxmlformats.org/drawingml/2006/main">
            <a:off x="7620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D2CF9722-4B95-4141-943B-9E597112C38B}"/>
              </a:ext>
            </a:extLst>
          </p:cNvPr>
          <p:cNvSpPr>
            <a:spLocks xmlns:a="http://schemas.openxmlformats.org/drawingml/2006/main" noGrp="1"/>
          </p:cNvSpPr>
          <p:nvPr/>
        </p:nvSpPr>
        <p:spPr>
          <a:xfrm xmlns:a="http://schemas.openxmlformats.org/drawingml/2006/main">
            <a:off x="14097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RECONCILE</a:t>
            </a:r>
          </a:p>
        </p:txBody>
      </p:sp>
      <p:sp>
        <p:nvSpPr>
          <p:cNvPr id="7" name="">
            <a:extLst xmlns:a="http://schemas.openxmlformats.org/drawingml/2006/main">
              <a:ext uri="{FF2B5EF4-FFF2-40B4-BE49-F238E27FC236}">
                <a16:creationId xmlns:a16="http://schemas.microsoft.com/office/drawing/2014/main" id="{C29287BE-8741-4A5D-B365-5ADFD1132C20}"/>
              </a:ext>
            </a:extLst>
          </p:cNvPr>
          <p:cNvSpPr>
            <a:spLocks xmlns:a="http://schemas.openxmlformats.org/drawingml/2006/main" noGrp="1"/>
          </p:cNvSpPr>
          <p:nvPr/>
        </p:nvSpPr>
        <p:spPr>
          <a:xfrm xmlns:a="http://schemas.openxmlformats.org/drawingml/2006/main">
            <a:off x="14097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Make mutable merchant totals</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an explicit protocol state.</a:t>
            </a:r>
          </a:p>
        </p:txBody>
      </p:sp>
      <p:sp>
        <p:nvSpPr>
          <p:cNvPr id="8" name="">
            <a:extLst xmlns:a="http://schemas.openxmlformats.org/drawingml/2006/main">
              <a:ext uri="{FF2B5EF4-FFF2-40B4-BE49-F238E27FC236}">
                <a16:creationId xmlns:a16="http://schemas.microsoft.com/office/drawing/2014/main" id="{02B3E61A-A72A-4F5A-B29D-01B42FA99C25}"/>
              </a:ext>
            </a:extLst>
          </p:cNvPr>
          <p:cNvSpPr>
            <a:spLocks xmlns:a="http://schemas.openxmlformats.org/drawingml/2006/main" noGrp="1"/>
          </p:cNvSpPr>
          <p:nvPr/>
        </p:nvSpPr>
        <p:spPr>
          <a:xfrm xmlns:a="http://schemas.openxmlformats.org/drawingml/2006/main">
            <a:off x="44196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0B36CA06-B56C-46C7-BD39-1816B16DF2D9}"/>
              </a:ext>
            </a:extLst>
          </p:cNvPr>
          <p:cNvSpPr>
            <a:spLocks xmlns:a="http://schemas.openxmlformats.org/drawingml/2006/main" noGrp="1"/>
          </p:cNvSpPr>
          <p:nvPr/>
        </p:nvSpPr>
        <p:spPr>
          <a:xfrm xmlns:a="http://schemas.openxmlformats.org/drawingml/2006/main">
            <a:off x="50673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PROVE</a:t>
            </a:r>
          </a:p>
        </p:txBody>
      </p:sp>
      <p:sp>
        <p:nvSpPr>
          <p:cNvPr id="10" name="">
            <a:extLst xmlns:a="http://schemas.openxmlformats.org/drawingml/2006/main">
              <a:ext uri="{FF2B5EF4-FFF2-40B4-BE49-F238E27FC236}">
                <a16:creationId xmlns:a16="http://schemas.microsoft.com/office/drawing/2014/main" id="{58172BBB-CF26-4A00-B8BB-A0D4B3C866A8}"/>
              </a:ext>
            </a:extLst>
          </p:cNvPr>
          <p:cNvSpPr>
            <a:spLocks xmlns:a="http://schemas.openxmlformats.org/drawingml/2006/main" noGrp="1"/>
          </p:cNvSpPr>
          <p:nvPr/>
        </p:nvSpPr>
        <p:spPr>
          <a:xfrm xmlns:a="http://schemas.openxmlformats.org/drawingml/2006/main">
            <a:off x="50673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Hash photos or signed human</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receipt when available.</a:t>
            </a:r>
          </a:p>
        </p:txBody>
      </p:sp>
      <p:sp>
        <p:nvSpPr>
          <p:cNvPr id="11" name="">
            <a:extLst xmlns:a="http://schemas.openxmlformats.org/drawingml/2006/main">
              <a:ext uri="{FF2B5EF4-FFF2-40B4-BE49-F238E27FC236}">
                <a16:creationId xmlns:a16="http://schemas.microsoft.com/office/drawing/2014/main" id="{A59AB5AB-EB1B-47D9-ACB4-304848B9A504}"/>
              </a:ext>
            </a:extLst>
          </p:cNvPr>
          <p:cNvSpPr>
            <a:spLocks xmlns:a="http://schemas.openxmlformats.org/drawingml/2006/main" noGrp="1"/>
          </p:cNvSpPr>
          <p:nvPr/>
        </p:nvSpPr>
        <p:spPr>
          <a:xfrm xmlns:a="http://schemas.openxmlformats.org/drawingml/2006/main">
            <a:off x="80772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F5465B4-3269-4030-AC6B-BE9CE9AB19F6}"/>
              </a:ext>
            </a:extLst>
          </p:cNvPr>
          <p:cNvSpPr>
            <a:spLocks xmlns:a="http://schemas.openxmlformats.org/drawingml/2006/main" noGrp="1"/>
          </p:cNvSpPr>
          <p:nvPr/>
        </p:nvSpPr>
        <p:spPr>
          <a:xfrm xmlns:a="http://schemas.openxmlformats.org/drawingml/2006/main">
            <a:off x="87249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EXPAND</a:t>
            </a:r>
          </a:p>
        </p:txBody>
      </p:sp>
      <p:sp>
        <p:nvSpPr>
          <p:cNvPr id="13" name="">
            <a:extLst xmlns:a="http://schemas.openxmlformats.org/drawingml/2006/main">
              <a:ext uri="{FF2B5EF4-FFF2-40B4-BE49-F238E27FC236}">
                <a16:creationId xmlns:a16="http://schemas.microsoft.com/office/drawing/2014/main" id="{621A79D1-7BB7-4F7D-A359-9D700C9B6F68}"/>
              </a:ext>
            </a:extLst>
          </p:cNvPr>
          <p:cNvSpPr>
            <a:spLocks xmlns:a="http://schemas.openxmlformats.org/drawingml/2006/main" noGrp="1"/>
          </p:cNvSpPr>
          <p:nvPr/>
        </p:nvSpPr>
        <p:spPr>
          <a:xfrm xmlns:a="http://schemas.openxmlformats.org/drawingml/2006/main">
            <a:off x="87249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Add local print, shops, and</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manual fulfillment adapters.</a:t>
            </a:r>
          </a:p>
        </p:txBody>
      </p:sp>
      <p:sp>
        <p:nvSpPr>
          <p:cNvPr id="14" name="">
            <a:extLst xmlns:a="http://schemas.openxmlformats.org/drawingml/2006/main">
              <a:ext uri="{FF2B5EF4-FFF2-40B4-BE49-F238E27FC236}">
                <a16:creationId xmlns:a16="http://schemas.microsoft.com/office/drawing/2014/main" id="{F999D935-80FE-4839-AD2E-B0206F1771A2}"/>
              </a:ext>
            </a:extLst>
          </p:cNvPr>
          <p:cNvSpPr>
            <a:spLocks xmlns:a="http://schemas.openxmlformats.org/drawingml/2006/main" noGrp="1"/>
          </p:cNvSpPr>
          <p:nvPr/>
        </p:nvSpPr>
        <p:spPr>
          <a:xfrm xmlns:a="http://schemas.openxmlformats.org/drawingml/2006/main">
            <a:off x="762000" y="5810250"/>
            <a:ext cx="9525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15" name="">
            <a:extLst xmlns:a="http://schemas.openxmlformats.org/drawingml/2006/main">
              <a:ext uri="{FF2B5EF4-FFF2-40B4-BE49-F238E27FC236}">
                <a16:creationId xmlns:a16="http://schemas.microsoft.com/office/drawing/2014/main" id="{313740B2-42A8-4FFA-9268-92D88EE60870}"/>
              </a:ext>
            </a:extLst>
          </p:cNvPr>
          <p:cNvSpPr>
            <a:spLocks xmlns:a="http://schemas.openxmlformats.org/drawingml/2006/main" noGrp="1"/>
          </p:cNvSpPr>
          <p:nvPr/>
        </p:nvSpPr>
        <p:spPr>
          <a:xfrm xmlns:a="http://schemas.openxmlformats.org/drawingml/2006/main">
            <a:off x="762000" y="5867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LOCK</a:t>
            </a:r>
          </a:p>
        </p:txBody>
      </p:sp>
      <p:sp>
        <p:nvSpPr>
          <p:cNvPr id="16" name="">
            <a:extLst xmlns:a="http://schemas.openxmlformats.org/drawingml/2006/main">
              <a:ext uri="{FF2B5EF4-FFF2-40B4-BE49-F238E27FC236}">
                <a16:creationId xmlns:a16="http://schemas.microsoft.com/office/drawing/2014/main" id="{734763FD-47F2-4190-8C1D-500015CF26D9}"/>
              </a:ext>
            </a:extLst>
          </p:cNvPr>
          <p:cNvSpPr>
            <a:spLocks xmlns:a="http://schemas.openxmlformats.org/drawingml/2006/main" noGrp="1"/>
          </p:cNvSpPr>
          <p:nvPr/>
        </p:nvSpPr>
        <p:spPr>
          <a:xfrm xmlns:a="http://schemas.openxmlformats.org/drawingml/2006/main">
            <a:off x="1809750" y="57912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31F73878-1361-467E-A1F5-35442A54A61E}"/>
              </a:ext>
            </a:extLst>
          </p:cNvPr>
          <p:cNvSpPr>
            <a:spLocks xmlns:a="http://schemas.openxmlformats.org/drawingml/2006/main" noGrp="1"/>
          </p:cNvSpPr>
          <p:nvPr/>
        </p:nvSpPr>
        <p:spPr>
          <a:xfrm xmlns:a="http://schemas.openxmlformats.org/drawingml/2006/main">
            <a:off x="2247900" y="5810250"/>
            <a:ext cx="1866900" cy="3048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8" name="">
            <a:extLst xmlns:a="http://schemas.openxmlformats.org/drawingml/2006/main">
              <a:ext uri="{FF2B5EF4-FFF2-40B4-BE49-F238E27FC236}">
                <a16:creationId xmlns:a16="http://schemas.microsoft.com/office/drawing/2014/main" id="{72BA95CD-2FE3-4B0E-A3F0-9CA4EAD498E1}"/>
              </a:ext>
            </a:extLst>
          </p:cNvPr>
          <p:cNvSpPr>
            <a:spLocks xmlns:a="http://schemas.openxmlformats.org/drawingml/2006/main" noGrp="1"/>
          </p:cNvSpPr>
          <p:nvPr/>
        </p:nvSpPr>
        <p:spPr>
          <a:xfrm xmlns:a="http://schemas.openxmlformats.org/drawingml/2006/main">
            <a:off x="2247900" y="5867400"/>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26A91"/>
                </a:solidFill>
                <a:latin typeface="Helvetica Neue"/>
                <a:ea typeface="Helvetica Neue"/>
                <a:cs typeface="Helvetica Neue"/>
              </a:defRPr>
            </a:pPr>
            <a:r>
              <a:rPr sz="1050" b="1">
                <a:solidFill>
                  <a:srgbClr val="126A91"/>
                </a:solidFill>
                <a:latin typeface="Helvetica Neue"/>
                <a:ea typeface="Helvetica Neue"/>
                <a:cs typeface="Helvetica Neue"/>
              </a:rPr>
              <a:t>APPROVE SPEC HASH</a:t>
            </a:r>
          </a:p>
        </p:txBody>
      </p:sp>
      <p:sp>
        <p:nvSpPr>
          <p:cNvPr id="19" name="">
            <a:extLst xmlns:a="http://schemas.openxmlformats.org/drawingml/2006/main">
              <a:ext uri="{FF2B5EF4-FFF2-40B4-BE49-F238E27FC236}">
                <a16:creationId xmlns:a16="http://schemas.microsoft.com/office/drawing/2014/main" id="{FD46B07A-FBD5-4F91-BB7A-5E2088096504}"/>
              </a:ext>
            </a:extLst>
          </p:cNvPr>
          <p:cNvSpPr>
            <a:spLocks xmlns:a="http://schemas.openxmlformats.org/drawingml/2006/main" noGrp="1"/>
          </p:cNvSpPr>
          <p:nvPr/>
        </p:nvSpPr>
        <p:spPr>
          <a:xfrm xmlns:a="http://schemas.openxmlformats.org/drawingml/2006/main">
            <a:off x="4210050" y="57912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A3812DFB-21B9-42D2-AAF0-67F9B5173AAE}"/>
              </a:ext>
            </a:extLst>
          </p:cNvPr>
          <p:cNvSpPr>
            <a:spLocks xmlns:a="http://schemas.openxmlformats.org/drawingml/2006/main" noGrp="1"/>
          </p:cNvSpPr>
          <p:nvPr/>
        </p:nvSpPr>
        <p:spPr>
          <a:xfrm xmlns:a="http://schemas.openxmlformats.org/drawingml/2006/main">
            <a:off x="4648200" y="5810250"/>
            <a:ext cx="1695450" cy="304800"/>
          </a:xfrm>
          <a:prstGeom xmlns:a="http://schemas.openxmlformats.org/drawingml/2006/main" prst="roundRect">
            <a:avLst>
              <a:gd name="adj" fmla="val 50000"/>
            </a:avLst>
          </a:prstGeom>
          <a:solidFill xmlns:a="http://schemas.openxmlformats.org/drawingml/2006/main">
            <a:srgbClr val="DDF6EE"/>
          </a:solidFill>
          <a:ln xmlns:a="http://schemas.openxmlformats.org/drawingml/2006/main" w="9525">
            <a:solidFill>
              <a:srgbClr val="DDF6EE"/>
            </a:solidFill>
            <a:prstDash val="solid"/>
          </a:ln>
        </p:spPr>
      </p:sp>
      <p:sp>
        <p:nvSpPr>
          <p:cNvPr id="21" name="">
            <a:extLst xmlns:a="http://schemas.openxmlformats.org/drawingml/2006/main">
              <a:ext uri="{FF2B5EF4-FFF2-40B4-BE49-F238E27FC236}">
                <a16:creationId xmlns:a16="http://schemas.microsoft.com/office/drawing/2014/main" id="{B2D344F4-0BF6-4855-A7C6-1DC52288B779}"/>
              </a:ext>
            </a:extLst>
          </p:cNvPr>
          <p:cNvSpPr>
            <a:spLocks xmlns:a="http://schemas.openxmlformats.org/drawingml/2006/main" noGrp="1"/>
          </p:cNvSpPr>
          <p:nvPr/>
        </p:nvSpPr>
        <p:spPr>
          <a:xfrm xmlns:a="http://schemas.openxmlformats.org/drawingml/2006/main">
            <a:off x="4648200" y="586740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PROVE DELIVERY</a:t>
            </a:r>
          </a:p>
        </p:txBody>
      </p:sp>
      <p:sp>
        <p:nvSpPr>
          <p:cNvPr id="22" name="">
            <a:extLst xmlns:a="http://schemas.openxmlformats.org/drawingml/2006/main">
              <a:ext uri="{FF2B5EF4-FFF2-40B4-BE49-F238E27FC236}">
                <a16:creationId xmlns:a16="http://schemas.microsoft.com/office/drawing/2014/main" id="{F0FA734E-B67D-47D2-8EDA-28C46EE58AA5}"/>
              </a:ext>
            </a:extLst>
          </p:cNvPr>
          <p:cNvSpPr>
            <a:spLocks xmlns:a="http://schemas.openxmlformats.org/drawingml/2006/main" noGrp="1"/>
          </p:cNvSpPr>
          <p:nvPr/>
        </p:nvSpPr>
        <p:spPr>
          <a:xfrm xmlns:a="http://schemas.openxmlformats.org/drawingml/2006/main">
            <a:off x="7905750" y="5848350"/>
            <a:ext cx="3600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The Solana program stayed unchanged.</a:t>
            </a:r>
          </a:p>
        </p:txBody>
      </p:sp>
    </p:spTree>
    <p:extLst>
      <p:ext uri="{BB962C8B-B14F-4D97-AF65-F5344CB8AC3E}">
        <p14:creationId xmlns:p14="http://schemas.microsoft.com/office/powerpoint/2010/main" val="13830392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2026-08-30T14:07:57.7950000Z</dcterms:created>
  <dcterms:modified xsi:type="dcterms:W3CDTF">2026-08-30T14:07:57.7950000Z</dcterms:modified>
</coreProperties>
</file>